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906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5600" y="432000"/>
            <a:ext cx="90504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■  </a:t>
            </a:r>
            <a:r>
              <a:rPr sz="2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이마트, 점포 기반 '2시간 배송' 도입 — 퀵커머스의 장보기 채널化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5600" y="1044000"/>
            <a:ext cx="8856000" cy="23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취급 상품 </a:t>
            </a:r>
            <a:r>
              <a:rPr sz="1400" b="1">
                <a:solidFill>
                  <a:srgbClr val="000066"/>
                </a:solidFill>
                <a:latin typeface="맑은 고딕"/>
                <a:ea typeface="맑은 고딕"/>
                <a:cs typeface="맑은 고딕"/>
              </a:rPr>
              <a:t>소량 1만 종 → 마트 全 상품 15만 종 확대</a:t>
            </a:r>
            <a:r>
              <a:rPr sz="14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— 점포(PP센터) 온라인 가동률 제고 목적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4800" y="1458000"/>
            <a:ext cx="9057600" cy="20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66"/>
                </a:solidFill>
                <a:latin typeface="맑은 고딕"/>
                <a:ea typeface="맑은 고딕"/>
                <a:cs typeface="맑은 고딕"/>
              </a:rPr>
              <a:t>• ① 도입 배경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2800" y="1659599"/>
            <a:ext cx="8859600" cy="20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'바로퀵'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(1시간 배송)</a:t>
            </a: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매출 197% 증가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('26.6월)</a:t>
            </a: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→ 퀵커머스 대용량 상품 수요 확대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2800" y="1861200"/>
            <a:ext cx="8859600" cy="20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B마트 등 업계 대용량 품목 취급 확대 → 소량 1시간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(이륜차)</a:t>
            </a: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·대용량 2시간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(사륜차)</a:t>
            </a: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이원화 대응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4800" y="2106000"/>
            <a:ext cx="90576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66"/>
                </a:solidFill>
                <a:latin typeface="맑은 고딕"/>
                <a:ea typeface="맑은 고딕"/>
                <a:cs typeface="맑은 고딕"/>
              </a:rPr>
              <a:t>• ② 서비스 개요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24800" y="2293200"/>
          <a:ext cx="9057600" cy="122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2000"/>
                <a:gridCol w="3816000"/>
                <a:gridCol w="4089600"/>
              </a:tblGrid>
              <a:tr h="2448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0000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'바로퀵' </a:t>
                      </a: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(기존)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0000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★ '2시간 배송' </a:t>
                      </a: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(신규)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000066"/>
                    </a:solidFill>
                  </a:tcPr>
                </a:tc>
              </a:tr>
              <a:tr h="2448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배송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1H 이내 </a:t>
                      </a: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(반경 3km)</a:t>
                      </a: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이륜차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2H 이내 · 사륜차 · 20시 주문 마감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DEEBF7"/>
                    </a:solidFill>
                  </a:tcPr>
                </a:tc>
              </a:tr>
              <a:tr h="2448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취급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1만 종 </a:t>
                      </a:r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(소포장·즉석식품 중심)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15만 종 </a:t>
                      </a:r>
                      <a:r>
                        <a:rPr sz="900" b="1">
                          <a:solidFill>
                            <a:srgbClr val="C30C3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(이마트 全 상품)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DEEBF7"/>
                    </a:solidFill>
                  </a:tcPr>
                </a:tc>
              </a:tr>
              <a:tr h="2448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출고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매장 일부 품목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PP센터 집품·포장 → 즉시 출고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DEEBF7"/>
                    </a:solidFill>
                  </a:tcPr>
                </a:tc>
              </a:tr>
              <a:tr h="2448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별도 배송비 체계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무료배송 4만 원 이상 </a:t>
                      </a:r>
                      <a:r>
                        <a:rPr sz="900" b="1">
                          <a:solidFill>
                            <a:srgbClr val="0000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(쓱배송 동일)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24800" y="3531599"/>
            <a:ext cx="9057600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※ 예약배송 </a:t>
            </a:r>
            <a:r>
              <a:rPr sz="8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(주간·새벽·트레이더스)</a:t>
            </a:r>
            <a:r>
              <a:rPr sz="9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 기존 운영 유지, 병행 이용 가능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4800" y="3704399"/>
            <a:ext cx="90576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66"/>
                </a:solidFill>
                <a:latin typeface="맑은 고딕"/>
                <a:ea typeface="맑은 고딕"/>
                <a:cs typeface="맑은 고딕"/>
              </a:rPr>
              <a:t>• ③ 취급 상품 차별점 — 소량 퀵커머스에서 全 상품 장보기로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800" y="3898799"/>
            <a:ext cx="8859600" cy="20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마트 全 상품 대상 : 기존 퀵커머스 미취급 대용량·신선 카테고리 전면 개방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800" y="4100399"/>
            <a:ext cx="8859600" cy="20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신선식품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(육류·생선·과일)</a:t>
            </a: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중심 소구 — 매장 재고 직접 집품으로 선도 유지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800" y="4302000"/>
            <a:ext cx="8859600" cy="20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냉장·냉동 전용 보냉 파우치 포장 후 매장 즉시 출고 — 콜드체인 체계 적용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800" y="4503600"/>
            <a:ext cx="8859600" cy="20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기존 '바로퀵' 고객층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(2030·소용량·그로서리 90%)</a:t>
            </a: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 구분되는 본 장보기 수요 겨냥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800" y="5173200"/>
            <a:ext cx="90576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66"/>
                </a:solidFill>
                <a:latin typeface="맑은 고딕"/>
                <a:ea typeface="맑은 고딕"/>
                <a:cs typeface="맑은 고딕"/>
              </a:rPr>
              <a:t>• ④ 확산 로드맵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4800" y="5554799"/>
            <a:ext cx="9057600" cy="0"/>
          </a:xfrm>
          <a:prstGeom prst="bentConnector3">
            <a:avLst/>
          </a:prstGeom>
          <a:ln w="31750">
            <a:solidFill>
              <a:srgbClr val="000066"/>
            </a:solidFill>
            <a:prstDash val="soli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506600" y="5504399"/>
            <a:ext cx="100800" cy="100800"/>
          </a:xfrm>
          <a:prstGeom prst="ellipse">
            <a:avLst/>
          </a:prstGeom>
          <a:solidFill>
            <a:srgbClr val="00006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4800" y="5367600"/>
            <a:ext cx="2264400" cy="144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00066"/>
                </a:solidFill>
                <a:latin typeface="맑은 고딕"/>
                <a:ea typeface="맑은 고딕"/>
                <a:cs typeface="맑은 고딕"/>
              </a:rPr>
              <a:t>'26.7월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800" y="5619599"/>
            <a:ext cx="2264400" cy="18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양재·하남점 시범</a:t>
            </a:r>
          </a:p>
        </p:txBody>
      </p:sp>
      <p:sp>
        <p:nvSpPr>
          <p:cNvPr id="20" name="Oval 19"/>
          <p:cNvSpPr/>
          <p:nvPr/>
        </p:nvSpPr>
        <p:spPr>
          <a:xfrm>
            <a:off x="3771000" y="5504399"/>
            <a:ext cx="100800" cy="100800"/>
          </a:xfrm>
          <a:prstGeom prst="ellipse">
            <a:avLst/>
          </a:prstGeom>
          <a:solidFill>
            <a:srgbClr val="00006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89200" y="5367600"/>
            <a:ext cx="2264400" cy="144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00066"/>
                </a:solidFill>
                <a:latin typeface="맑은 고딕"/>
                <a:ea typeface="맑은 고딕"/>
                <a:cs typeface="맑은 고딕"/>
              </a:rPr>
              <a:t>8월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89200" y="5619599"/>
            <a:ext cx="2264400" cy="18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서울권 확대 </a:t>
            </a:r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(월계·가든5·신도림)</a:t>
            </a:r>
          </a:p>
        </p:txBody>
      </p:sp>
      <p:sp>
        <p:nvSpPr>
          <p:cNvPr id="23" name="Oval 22"/>
          <p:cNvSpPr/>
          <p:nvPr/>
        </p:nvSpPr>
        <p:spPr>
          <a:xfrm>
            <a:off x="6035400" y="5504399"/>
            <a:ext cx="100800" cy="100800"/>
          </a:xfrm>
          <a:prstGeom prst="ellipse">
            <a:avLst/>
          </a:prstGeom>
          <a:solidFill>
            <a:srgbClr val="00006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3600" y="5367600"/>
            <a:ext cx="2264400" cy="144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00066"/>
                </a:solidFill>
                <a:latin typeface="맑은 고딕"/>
                <a:ea typeface="맑은 고딕"/>
                <a:cs typeface="맑은 고딕"/>
              </a:rPr>
              <a:t>9월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53600" y="5619599"/>
            <a:ext cx="2264400" cy="18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전국 확대</a:t>
            </a:r>
          </a:p>
        </p:txBody>
      </p:sp>
      <p:sp>
        <p:nvSpPr>
          <p:cNvPr id="26" name="Oval 25"/>
          <p:cNvSpPr/>
          <p:nvPr/>
        </p:nvSpPr>
        <p:spPr>
          <a:xfrm>
            <a:off x="8299800" y="5504399"/>
            <a:ext cx="100800" cy="100800"/>
          </a:xfrm>
          <a:prstGeom prst="ellipse">
            <a:avLst/>
          </a:prstGeom>
          <a:solidFill>
            <a:srgbClr val="C30C3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18000" y="5367600"/>
            <a:ext cx="2264400" cy="144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C30C3E"/>
                </a:solidFill>
                <a:latin typeface="맑은 고딕"/>
                <a:ea typeface="맑은 고딕"/>
                <a:cs typeface="맑은 고딕"/>
              </a:rPr>
              <a:t>연말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18000" y="5619599"/>
            <a:ext cx="2264400" cy="18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50여 점포 운영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4800" y="6498000"/>
            <a:ext cx="90576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※ 출처 : 비즈워치 · 머니투데이 · 한국경제 · 뉴스핌 · 비즈니스포스트 </a:t>
            </a:r>
            <a:r>
              <a:rPr sz="8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('26.7.8~10)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