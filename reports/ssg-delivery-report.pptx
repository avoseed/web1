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304000"/>
            <a:ext cx="36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내부 토의용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628000"/>
            <a:ext cx="846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SSG닷컴 '2시간 배송' 도입 전략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92000" y="3384000"/>
            <a:ext cx="8316000" cy="0"/>
          </a:xfrm>
          <a:prstGeom prst="bentConnector3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0000" y="5148000"/>
            <a:ext cx="84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온라인사업단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400000"/>
            <a:ext cx="846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2026. 07. 10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14000"/>
            <a:ext cx="9907200" cy="5004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60000" y="2015999"/>
            <a:ext cx="73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SSG닷컴 배송 서비스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0" y="2880000"/>
            <a:ext cx="54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① 핵심 요약 및 서비스 현황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0" y="3186000"/>
            <a:ext cx="54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② '2시간 배송' 도입 배경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0" y="3491999"/>
            <a:ext cx="540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③ 규제 환경 및 확대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[핵심요약①]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'2시간 배송' 시범 운영 개시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양재·하남점 '2시간 배송' 시범 도입 — 대용량 장보기 공략·PP센터 가동률 제고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출처 : 비즈워치 「SSG닷컴, '2시간 실험'에 나선 진짜 이유는」('26. 7. 10.)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800" y="1475999"/>
            <a:ext cx="9057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'26. 7. 9. 이마트 양재·하남점 시범 개시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800" y="1821599"/>
            <a:ext cx="8859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- 20시 주문 마감 → 결제 후 2시간 내 배송, 예약배송 병행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00" y="2167200"/>
            <a:ext cx="9057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대용량 장보기 수요를 사륜차로 흡수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800" y="2512800"/>
            <a:ext cx="9057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새벽배송 막힌 PP센터의 낮 가동률 제고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4800" y="3038400"/>
          <a:ext cx="9057600" cy="158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0"/>
                <a:gridCol w="6897600"/>
              </a:tblGrid>
              <a:tr h="316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316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점포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이마트 양재점 · 하남점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주문 마감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오후 8시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배송 완료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결제 후 2시간 이내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68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운송 수단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쓱배송 사륜 차량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[서비스현황②]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이마트·SSG닷컴 배송 서비스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신규 2시간 배송으로 소량 퀵배송과 대용량 예약배송 사이 공백 보완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취급 품목 : 이마트 점포당 평균 약 15만 종 / 바로퀵 약 1만 종 / B마트 약 2만 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4800" y="1475999"/>
          <a:ext cx="9057599" cy="381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5999"/>
                <a:gridCol w="1692000"/>
                <a:gridCol w="1080000"/>
                <a:gridCol w="1440000"/>
                <a:gridCol w="3189600"/>
              </a:tblGrid>
              <a:tr h="636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배송 속도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운송 수단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취급 품목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636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주간배송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예약배송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(구간당 4~5시간)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사륜차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점포 상품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지역별 2~5개 구간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6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새벽배송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새벽 시간대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사륜차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네오 상품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네오 한정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(PP센터 불가)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6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트레이더스배송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예약배송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사륜차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트레이더스 상품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6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바로퀵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 내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(반경 3km)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이륜차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1만 종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소량·1~2인 가구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 197%↑(6월, 1월比)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6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2시간 배송 (신규)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2시간 내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(20시 마감)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사륜차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15만 종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대용량 즉시배송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예약배송 병행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[도입배경③]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대용량 장보기 수요와 퀵커머스 세분화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바로퀵 매출 197% 증가로 온디맨드 수요 실증 — 1시간/2시간 이원화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94400" y="846000"/>
            <a:ext cx="1188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(단위 : 종)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출처 : 비즈워치 「SSG닷컴, '2시간 실험'에 나선 진짜 이유는」('26. 7. 10.)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4800" y="1475999"/>
            <a:ext cx="9057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이륜차 적재 한계 → 대용량 장보기 공백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00" y="1821599"/>
            <a:ext cx="9057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바로퀵 매출 197%↑(6월, 1월比) → 수요 실증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800" y="2167200"/>
            <a:ext cx="9057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1시간(소량·이륜차) / 2시간(대용량·사륜차) 이원화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00" y="2512800"/>
            <a:ext cx="9057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B마트도 대용량 품목 확대·사륜차 병행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24800" y="3038400"/>
          <a:ext cx="9057600" cy="129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0000"/>
                <a:gridCol w="2160000"/>
                <a:gridCol w="3657600"/>
              </a:tblGrid>
              <a:tr h="324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취급 품목 수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8E0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D8E0E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이마트 점포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150,000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점포당 평균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바로퀵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10,000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이륜차 적재 한계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B마트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20,000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퀵커머스 1위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5600" y="432000"/>
            <a:ext cx="90504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[규제·확대④] </a:t>
            </a:r>
            <a:r>
              <a:rPr sz="2000" b="1">
                <a:solidFill>
                  <a:srgbClr val="222222"/>
                </a:solidFill>
                <a:latin typeface="맑은 고딕"/>
                <a:ea typeface="맑은 고딕"/>
                <a:cs typeface="맑은 고딕"/>
              </a:rPr>
              <a:t>새벽배송 규제와 확대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600" y="1044000"/>
            <a:ext cx="7830000" cy="23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■ 새벽 규제 하 낮 시간대 가동률 승부 — 연말 50여 개 점포 확대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2400" y="6443999"/>
            <a:ext cx="648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유통산업발전법('12년) : 대형마트 영업 0~10시 제한 · 월 2회 의무휴업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4800" y="1475999"/>
            <a:ext cx="9057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160여 PP센터, 유통법상 새벽 가동 불가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800" y="1821599"/>
            <a:ext cx="8859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바로퀵·2시간 배송으로 낮 가동률 제고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800" y="2167200"/>
            <a:ext cx="9057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규제 완화 개정 시 새벽배송 확장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800" y="2512800"/>
            <a:ext cx="9057600" cy="34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이커머스 3위 SSG닷컴 반등 계기 주목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24800" y="3038400"/>
          <a:ext cx="9057600" cy="151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/>
                <a:gridCol w="7257600"/>
              </a:tblGrid>
              <a:tr h="3024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6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확대 계획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EAEEF6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'26. 7월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양재·하남점 시범 운영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'26. 8월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주요 지역 확대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'26. 9월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전국 확대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24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'26. 연말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50여 개 점포 운영</a:t>
                      </a:r>
                    </a:p>
                  </a:txBody>
                  <a:tcPr anchor="ctr" marL="36000" marR="36000" marT="0" marB="0">
                    <a:lnL w="9525" cap="flat">
                      <a:solidFill>
                        <a:srgbClr val="BFBFBF"/>
                      </a:solidFill>
                    </a:lnL>
                    <a:lnR w="9525" cap="flat">
                      <a:solidFill>
                        <a:srgbClr val="BFBFBF"/>
                      </a:solidFill>
                    </a:lnR>
                    <a:lnT w="9525" cap="flat">
                      <a:solidFill>
                        <a:srgbClr val="BFBFBF"/>
                      </a:solidFill>
                    </a:lnT>
                    <a:lnB w="9525" cap="flat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720000"/>
            <a:ext cx="7200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No.1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655999"/>
            <a:ext cx="8640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C30C3E"/>
                </a:solidFill>
                <a:latin typeface="맑은 고딕"/>
                <a:ea typeface="맑은 고딕"/>
                <a:cs typeface="맑은 고딕"/>
              </a:rPr>
              <a:t>GROCERY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7999" y="2520000"/>
            <a:ext cx="720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08080"/>
                </a:solidFill>
                <a:latin typeface="맑은 고딕"/>
                <a:ea typeface="맑은 고딕"/>
                <a:cs typeface="맑은 고딕"/>
              </a:rPr>
              <a:t>Discover a joyful food life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0000" y="4680000"/>
            <a:ext cx="2160000" cy="0"/>
          </a:xfrm>
          <a:prstGeom prst="bentConnector3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0000" y="4752000"/>
            <a:ext cx="252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sz="15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RE:TARGET 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경영목표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00000" y="4680000"/>
            <a:ext cx="2160000" cy="0"/>
          </a:xfrm>
          <a:prstGeom prst="bentConnector3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00000" y="4752000"/>
            <a:ext cx="252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sz="15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RE:DESIGN 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고객경험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60000" y="4680000"/>
            <a:ext cx="2160000" cy="0"/>
          </a:xfrm>
          <a:prstGeom prst="bentConnector3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60000" y="4752000"/>
            <a:ext cx="252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/>
            </a:r>
            <a:r>
              <a:rPr sz="1500" b="1">
                <a:solidFill>
                  <a:srgbClr val="000066"/>
                </a:solidFill>
                <a:latin typeface="맑은 고딕"/>
                <a:ea typeface="맑은 고딕"/>
                <a:cs typeface="맑은 고딕"/>
              </a:rPr>
              <a:t>RE:FOCUS 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일하는 방식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