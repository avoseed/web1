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[동향]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이마트, 점포 물류거점화로 대용량 즉시배송 선점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'2시간 배송' 양재·하남 시범 </a:t>
            </a:r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(7.9~)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→ 연말 50여 점 · 유휴 PP센터 재활용 저비용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품목: 이마트 15만 · 바로퀵 1만 종      ※ 출처: 비즈워치 · 머니투데이 · 한국경제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('26.7.8~10)</a:t>
            </a:r>
          </a:p>
        </p:txBody>
      </p:sp>
      <p:sp>
        <p:nvSpPr>
          <p:cNvPr id="5" name="Rectangle 4"/>
          <p:cNvSpPr/>
          <p:nvPr/>
        </p:nvSpPr>
        <p:spPr>
          <a:xfrm>
            <a:off x="424800" y="1494000"/>
            <a:ext cx="5292000" cy="270000"/>
          </a:xfrm>
          <a:prstGeom prst="rect">
            <a:avLst/>
          </a:prstGeom>
          <a:solidFill>
            <a:srgbClr val="EA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4800" y="1494000"/>
            <a:ext cx="5292000" cy="2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현황 및 배경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800" y="1864800"/>
            <a:ext cx="529200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① 수요 급증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800" y="2052000"/>
            <a:ext cx="5093999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매출 197%↑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('26.6월)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(미검증)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800" y="2239200"/>
            <a:ext cx="5093999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B마트 등 즉시배송 시장, 대용량 품목 확대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2505600"/>
            <a:ext cx="529200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② 서비스 이원화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800" y="2692800"/>
            <a:ext cx="5093999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바로퀵은 소량·즉석식 한정 → 대용량 미충족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800" y="2880000"/>
            <a:ext cx="5093999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(소량)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/ 2시간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(대용량)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이원화, 15만 종 구색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4800" y="3146400"/>
            <a:ext cx="5292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③ 이마트 배송 체계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24800" y="3344400"/>
          <a:ext cx="5292000" cy="2613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4000"/>
                <a:gridCol w="1188000"/>
                <a:gridCol w="1260000"/>
                <a:gridCol w="540000"/>
                <a:gridCol w="1620000"/>
              </a:tblGrid>
              <a:tr h="4356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 · 형태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435600">
                <a:tc rowSpan="3"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구간당 4~5H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5600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</a:t>
                      </a:r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(PP센터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5600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5600">
                <a:tc rowSpan="2"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1H </a:t>
                      </a:r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(반경 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5600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2시간 배송 </a:t>
                      </a:r>
                      <a:r>
                        <a:rPr sz="8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2H </a:t>
                      </a:r>
                      <a:r>
                        <a:rPr sz="8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(20시 마감)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5954400" y="1494000"/>
            <a:ext cx="3528000" cy="270000"/>
          </a:xfrm>
          <a:prstGeom prst="rect">
            <a:avLst/>
          </a:prstGeom>
          <a:solidFill>
            <a:srgbClr val="EA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54400" y="1494000"/>
            <a:ext cx="3528000" cy="2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서비스 세부 내용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54400" y="1864800"/>
            <a:ext cx="3528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① 운영 방침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2400" y="2062800"/>
            <a:ext cx="333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 마감 → 2시간 내 배송 완료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52400" y="2260800"/>
            <a:ext cx="333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쓱배송 사륜차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(대용량·중량 대응)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2400" y="2458800"/>
            <a:ext cx="333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예약배송 병행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2400" y="2656800"/>
            <a:ext cx="333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유휴 PP센터 재활용형 서비스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4400" y="2934000"/>
            <a:ext cx="3528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② 확산 로드맵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26399" y="3222000"/>
            <a:ext cx="0" cy="1961999"/>
          </a:xfrm>
          <a:prstGeom prst="bentConnector3">
            <a:avLst/>
          </a:prstGeom>
          <a:ln w="22225">
            <a:solidFill>
              <a:srgbClr val="00000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5979600" y="31752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88399" y="3060000"/>
            <a:ext cx="684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'26.7월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8399" y="3060000"/>
            <a:ext cx="2574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양재·하남점 도입</a:t>
            </a:r>
          </a:p>
        </p:txBody>
      </p:sp>
      <p:sp>
        <p:nvSpPr>
          <p:cNvPr id="27" name="Oval 26"/>
          <p:cNvSpPr/>
          <p:nvPr/>
        </p:nvSpPr>
        <p:spPr>
          <a:xfrm>
            <a:off x="5979600" y="38292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88399" y="3714000"/>
            <a:ext cx="684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8399" y="3714000"/>
            <a:ext cx="2574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확대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(월계·가든5·신도림)</a:t>
            </a:r>
          </a:p>
        </p:txBody>
      </p:sp>
      <p:sp>
        <p:nvSpPr>
          <p:cNvPr id="30" name="Oval 29"/>
          <p:cNvSpPr/>
          <p:nvPr/>
        </p:nvSpPr>
        <p:spPr>
          <a:xfrm>
            <a:off x="5979600" y="44831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88399" y="4368000"/>
            <a:ext cx="684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8399" y="4368000"/>
            <a:ext cx="2574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33" name="Oval 32"/>
          <p:cNvSpPr/>
          <p:nvPr/>
        </p:nvSpPr>
        <p:spPr>
          <a:xfrm>
            <a:off x="5979600" y="51371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88399" y="5022000"/>
            <a:ext cx="684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8399" y="5022000"/>
            <a:ext cx="2574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 운영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54400" y="5562000"/>
            <a:ext cx="3528000" cy="396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유휴 PP센터 재활용 → 신규 투자 최소 · 저비용 급속 확산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835599" y="1494000"/>
            <a:ext cx="0" cy="4464000"/>
          </a:xfrm>
          <a:prstGeom prst="bentConnector3">
            <a:avLst/>
          </a:prstGeom>
          <a:ln w="9525">
            <a:solidFill>
              <a:srgbClr val="BFBFBF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