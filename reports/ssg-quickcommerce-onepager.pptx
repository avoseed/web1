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[동향]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이마트, 점포 물류거점화로 대용량 즉시배송 선점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'2시간 배송' 양재·하남 시범 </a:t>
            </a:r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(7.9~)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→ 연말 50여 점 · 유휴 PP센터 재활용 저비용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취급 품목 : 이마트 15만 종 · 바로퀵 1만 종      ※ 출처 : 비즈워치 · 머니투데이 · 한국경제 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('26.7.8~10)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31400" y="1504800"/>
            <a:ext cx="4851000" cy="23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② 서비스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29400" y="1742400"/>
            <a:ext cx="4653000" cy="23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거점 : 유휴 점포 PP센터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(반경 내 즉시 출고)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9400" y="1980000"/>
            <a:ext cx="4653000" cy="23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운송 : 쓱배송 사륜차 → 대용량·중량 대응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9400" y="2217600"/>
            <a:ext cx="4653000" cy="23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운영 : 20시 마감 → 2시간 내 배송 완료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(예약배송 병행)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9400" y="2455200"/>
            <a:ext cx="4653000" cy="23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규모 : 약 15만 종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(바로퀵 1만 종 대비 15배)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31400" y="2800800"/>
            <a:ext cx="4851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③ 확산 계획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703400" y="3175200"/>
            <a:ext cx="0" cy="2386800"/>
          </a:xfrm>
          <a:prstGeom prst="bentConnector3">
            <a:avLst/>
          </a:prstGeom>
          <a:ln w="22225">
            <a:solidFill>
              <a:srgbClr val="000000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4656600" y="31284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65400" y="3067200"/>
            <a:ext cx="720000" cy="1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'26.7월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1399" y="3067200"/>
            <a:ext cx="3861000" cy="21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양재·하남점 도입</a:t>
            </a:r>
          </a:p>
        </p:txBody>
      </p:sp>
      <p:sp>
        <p:nvSpPr>
          <p:cNvPr id="15" name="Oval 14"/>
          <p:cNvSpPr/>
          <p:nvPr/>
        </p:nvSpPr>
        <p:spPr>
          <a:xfrm>
            <a:off x="4656600" y="3923999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5400" y="3862799"/>
            <a:ext cx="720000" cy="1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8월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21399" y="3862799"/>
            <a:ext cx="3861000" cy="21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서울 확대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(월계·가든5·신도림)</a:t>
            </a:r>
          </a:p>
        </p:txBody>
      </p:sp>
      <p:sp>
        <p:nvSpPr>
          <p:cNvPr id="18" name="Oval 17"/>
          <p:cNvSpPr/>
          <p:nvPr/>
        </p:nvSpPr>
        <p:spPr>
          <a:xfrm>
            <a:off x="4656600" y="4719599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65400" y="4658399"/>
            <a:ext cx="720000" cy="1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9월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1399" y="4658399"/>
            <a:ext cx="3861000" cy="21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전국 확대</a:t>
            </a:r>
          </a:p>
        </p:txBody>
      </p:sp>
      <p:sp>
        <p:nvSpPr>
          <p:cNvPr id="21" name="Oval 20"/>
          <p:cNvSpPr/>
          <p:nvPr/>
        </p:nvSpPr>
        <p:spPr>
          <a:xfrm>
            <a:off x="4656600" y="5515199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5400" y="5453999"/>
            <a:ext cx="720000" cy="1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1399" y="5453999"/>
            <a:ext cx="3861000" cy="21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50여 점포 운영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31400" y="5742000"/>
            <a:ext cx="4851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(리드)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유휴 PP센터 재활용 → 신규 투자 최소 · 저비용 급속 확산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4800" y="1504800"/>
            <a:ext cx="3969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① 도입 배경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2800" y="1735199"/>
            <a:ext cx="3771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바로퀵 매출 197%↑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('26.6월)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(미검증)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2800" y="1965599"/>
            <a:ext cx="3771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B마트 등 즉시배송 시장 대용량 품목 확대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2800" y="2195999"/>
            <a:ext cx="3771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기존 라인업 '빠름 × 대용량' 부재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424800" y="2552399"/>
          <a:ext cx="3969000" cy="3333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90700"/>
                <a:gridCol w="1389150"/>
                <a:gridCol w="1389150"/>
              </a:tblGrid>
              <a:tr h="342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속도＼물량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소량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1495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빠름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(당일 1~2H)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 </a:t>
                      </a: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(1H)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★ 2시간 배송 </a:t>
                      </a:r>
                      <a:r>
                        <a:rPr sz="9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(신규)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</a:tr>
              <a:tr h="1495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(익일~)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없음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주간·새벽·트레이더스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30" name="Connector 29"/>
          <p:cNvCxnSpPr/>
          <p:nvPr/>
        </p:nvCxnSpPr>
        <p:spPr>
          <a:xfrm>
            <a:off x="4512600" y="1504800"/>
            <a:ext cx="0" cy="4381200"/>
          </a:xfrm>
          <a:prstGeom prst="bentConnector3">
            <a:avLst/>
          </a:prstGeom>
          <a:ln w="9525">
            <a:solidFill>
              <a:srgbClr val="BFBFBF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