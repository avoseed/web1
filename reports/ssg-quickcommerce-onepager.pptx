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94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" y="1684800"/>
            <a:ext cx="2803200" cy="4032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800" y="1684800"/>
            <a:ext cx="2623200" cy="4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8000" y="1684800"/>
            <a:ext cx="324000" cy="4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1999" y="1684800"/>
            <a:ext cx="2803200" cy="4032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1999" y="1684800"/>
            <a:ext cx="2623200" cy="4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(배경)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B마트 등 즉시배송 시장 대용량 품목 확대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200" y="1684800"/>
            <a:ext cx="324000" cy="4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9199" y="1684800"/>
            <a:ext cx="2803200" cy="4032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9199" y="1684800"/>
            <a:ext cx="2623200" cy="4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 라인업, '빠름 × 대용량' 부재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00" y="2232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4800" y="2430000"/>
            <a:ext cx="4882680" cy="19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4800" y="2430000"/>
            <a:ext cx="4882680" cy="342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800" y="2430000"/>
            <a:ext cx="4882680" cy="34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운영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4800" y="2772000"/>
            <a:ext cx="4882680" cy="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2800" y="2772000"/>
            <a:ext cx="90000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거점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2800" y="2772000"/>
            <a:ext cx="376668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유휴 점포 PP센터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(반경 내 즉시 출고)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8799" y="3181500"/>
            <a:ext cx="4774681" cy="0"/>
          </a:xfrm>
          <a:prstGeom prst="bentConnector3">
            <a:avLst/>
          </a:prstGeom>
          <a:ln w="6350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2800" y="3181500"/>
            <a:ext cx="90000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2800" y="3181500"/>
            <a:ext cx="376668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쓱배송 사륜차 → 대용량·중량 대응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8799" y="3591000"/>
            <a:ext cx="4774681" cy="0"/>
          </a:xfrm>
          <a:prstGeom prst="bentConnector3">
            <a:avLst/>
          </a:prstGeom>
          <a:ln w="6350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800" y="3591000"/>
            <a:ext cx="90000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800" y="3591000"/>
            <a:ext cx="376668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20시 마감 → 2시간 내 배송 완료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(기존 예약배송 병행)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8799" y="4000500"/>
            <a:ext cx="4774681" cy="0"/>
          </a:xfrm>
          <a:prstGeom prst="bentConnector3">
            <a:avLst/>
          </a:prstGeom>
          <a:ln w="6350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2800" y="4000500"/>
            <a:ext cx="90000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2800" y="4000500"/>
            <a:ext cx="3766680" cy="40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약 15만 종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 1만 종 대비 15배)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487480" y="2430000"/>
          <a:ext cx="3994918" cy="19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8476"/>
                <a:gridCol w="1398221"/>
                <a:gridCol w="1398221"/>
              </a:tblGrid>
              <a:tr h="34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속도＼물량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819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빠름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(당일 1~2H)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819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(익일~)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없음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주간·새벽·트레이더스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424800" y="45468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계획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4800" y="4744800"/>
            <a:ext cx="9057600" cy="918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58800" y="5067000"/>
            <a:ext cx="8589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682100" y="5016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800" y="4861800"/>
            <a:ext cx="2147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800" y="5131800"/>
            <a:ext cx="2147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37" name="Oval 36"/>
          <p:cNvSpPr/>
          <p:nvPr/>
        </p:nvSpPr>
        <p:spPr>
          <a:xfrm>
            <a:off x="3829499" y="5016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06200" y="4861800"/>
            <a:ext cx="2147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06200" y="5131800"/>
            <a:ext cx="2147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40" name="Oval 39"/>
          <p:cNvSpPr/>
          <p:nvPr/>
        </p:nvSpPr>
        <p:spPr>
          <a:xfrm>
            <a:off x="5976900" y="5016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53600" y="4861800"/>
            <a:ext cx="2147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3600" y="5131800"/>
            <a:ext cx="2147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43" name="Oval 42"/>
          <p:cNvSpPr/>
          <p:nvPr/>
        </p:nvSpPr>
        <p:spPr>
          <a:xfrm>
            <a:off x="8124299" y="5016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00999" y="4861800"/>
            <a:ext cx="2147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00999" y="5131800"/>
            <a:ext cx="2147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800" y="5727600"/>
            <a:ext cx="9057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유휴 PP센터 재활용 → 신규 투자 최소 · 저비용 급속 확산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