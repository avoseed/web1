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906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5600" y="432000"/>
            <a:ext cx="9050400" cy="32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>
                <a:solidFill>
                  <a:srgbClr val="222222"/>
                </a:solidFill>
                <a:latin typeface="맑은 고딕"/>
                <a:ea typeface="맑은 고딕"/>
                <a:cs typeface="맑은 고딕"/>
              </a:rPr>
              <a:t>[이마트 퀵커머스] </a:t>
            </a:r>
            <a:r>
              <a:rPr sz="2000" b="1">
                <a:solidFill>
                  <a:srgbClr val="222222"/>
                </a:solidFill>
                <a:latin typeface="맑은 고딕"/>
                <a:ea typeface="맑은 고딕"/>
                <a:cs typeface="맑은 고딕"/>
              </a:rPr>
              <a:t>SSG닷컴 '2시간 배송' 도입 전략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5600" y="1044000"/>
            <a:ext cx="7830000" cy="23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■ 양재·하남점 '2시간 배송' 시범 도입 — 대용량 장보기 공략·PP센터 가동률 제고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92400" y="6443999"/>
            <a:ext cx="6480000" cy="19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※ 취급 품목 : 이마트 15만 · 바로퀵 1만 · B마트 2만 종      ※ 출처 : 비즈워치 ('26. 7. 10.)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24800" y="1475999"/>
          <a:ext cx="9057600" cy="25920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04000"/>
                <a:gridCol w="1908000"/>
                <a:gridCol w="900000"/>
                <a:gridCol w="1296000"/>
                <a:gridCol w="3549600"/>
              </a:tblGrid>
              <a:tr h="432000"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구분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EAEE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배송 속도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EAEE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운송 수단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EAEE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취급 품목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EAEE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특징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EAEEF6"/>
                    </a:solidFill>
                  </a:tcPr>
                </a:tc>
              </a:tr>
              <a:tr h="432000"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주간배송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예약배송 (4~5시간)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사륜차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점포 상품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지역별 2~5개 구간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32000"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새벽배송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새벽 시간대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사륜차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네오 상품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네오 한정 (PP센터 불가)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32000"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트레이더스배송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예약배송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사륜차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트레이더스 상품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—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32000"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바로퀵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1시간 내 (3km)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이륜차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약 1만 종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소량·1~2인 가구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32000"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2시간 배송 (신규)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2시간 내 (20시 마감)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사륜차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약 15만 종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대용량 즉시배송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24800" y="4338000"/>
            <a:ext cx="2860800" cy="19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도입 배경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24800" y="4561200"/>
            <a:ext cx="2860800" cy="0"/>
          </a:xfrm>
          <a:prstGeom prst="bentConnector3">
            <a:avLst/>
          </a:prstGeom>
          <a:ln w="1270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424800" y="4662000"/>
            <a:ext cx="2860800" cy="23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• 대용량 장보기 공백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2800" y="4899600"/>
            <a:ext cx="2662800" cy="23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- 이륜차 퀵커머스 소량 한정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4800" y="5137200"/>
            <a:ext cx="2860800" cy="23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• 온디맨드 수요 실증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2800" y="5374800"/>
            <a:ext cx="2662800" cy="23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- 바로퀵 매출 197%↑ (6월)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23199" y="4338000"/>
            <a:ext cx="2860800" cy="19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시범 운영 ('26. 7. 9.~)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3523199" y="4561200"/>
            <a:ext cx="2860800" cy="0"/>
          </a:xfrm>
          <a:prstGeom prst="bentConnector3">
            <a:avLst/>
          </a:prstGeom>
          <a:ln w="1270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3523199" y="4662000"/>
            <a:ext cx="2860800" cy="23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• 2시간 내 배송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21199" y="4899600"/>
            <a:ext cx="2662800" cy="23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- 20시 주문 마감, 예약배송 병행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23199" y="5137200"/>
            <a:ext cx="2860800" cy="23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• 사륜차 대용량 대응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21199" y="5374800"/>
            <a:ext cx="2662800" cy="23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- 점포 15만 종 기반 즉시배송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21599" y="4338000"/>
            <a:ext cx="2860800" cy="19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확대 로드맵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6621599" y="4561200"/>
            <a:ext cx="2860800" cy="0"/>
          </a:xfrm>
          <a:prstGeom prst="bentConnector3">
            <a:avLst/>
          </a:prstGeom>
          <a:ln w="1270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6621599" y="4662000"/>
            <a:ext cx="2860800" cy="23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• 전국 확대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19599" y="4899600"/>
            <a:ext cx="2662800" cy="23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- 8월 서울 → 9월 전국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19599" y="5137200"/>
            <a:ext cx="2662800" cy="23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- 연말 50여 개 점포 목표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21599" y="5374800"/>
            <a:ext cx="2860800" cy="23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• 규제 변수 : PP센터 새벽 불가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3404399" y="4374000"/>
            <a:ext cx="0" cy="1238400"/>
          </a:xfrm>
          <a:prstGeom prst="bentConnector3">
            <a:avLst/>
          </a:prstGeom>
          <a:ln w="952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6502800" y="4374000"/>
            <a:ext cx="0" cy="1238400"/>
          </a:xfrm>
          <a:prstGeom prst="bentConnector3">
            <a:avLst/>
          </a:prstGeom>
          <a:ln w="952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ectangle 25"/>
          <p:cNvSpPr/>
          <p:nvPr/>
        </p:nvSpPr>
        <p:spPr>
          <a:xfrm>
            <a:off x="424800" y="5868000"/>
            <a:ext cx="9057600" cy="360000"/>
          </a:xfrm>
          <a:prstGeom prst="rect">
            <a:avLst/>
          </a:prstGeom>
          <a:solidFill>
            <a:srgbClr val="0000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24800" y="5868000"/>
            <a:ext cx="9057600" cy="36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사륜차 대용량 즉시배송으로 퀵커머스 공백 흡수 — 연말 50여 개 점포, 전국 즉시배송 기반 구축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