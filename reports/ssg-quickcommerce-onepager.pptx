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■ 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기반 '2시간 배송' 도입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8928000" cy="23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취급 상품 </a:t>
            </a:r>
            <a:r>
              <a:rPr sz="1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소량 1만 종 → 마트 全 상품 15만 종 확대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— 점포(PP센터) 온라인 가동률 제고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4800" y="1447199"/>
            <a:ext cx="9057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도입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2800" y="1648800"/>
            <a:ext cx="8859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'바로퀵'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(1시간 배송)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매출 197% 증가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퀵커머스 대용량 상품 수요 확대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50400"/>
            <a:ext cx="8859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업계 대용량 품목 취급 확대 → 소량 1시간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(이륜차)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·대용량 2시간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(사륜차)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09600"/>
            <a:ext cx="9057600" cy="19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개요 및 상품 차별점 — 소량 퀵커머스에서 全 상품 장보기로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4800" y="2325600"/>
          <a:ext cx="9057600" cy="24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4000"/>
                <a:gridCol w="3384000"/>
                <a:gridCol w="4449600"/>
              </a:tblGrid>
              <a:tr h="3548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'바로퀵'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(기존)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'2시간 배송'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3548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1H 이내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2H 이내 · 사륜차 · 20시 주문 마감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3548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(소포장·즉석식품 중심)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(마트 全 상품)</a:t>
                      </a:r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대용량·신선 전면 개방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3548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신선·포장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포장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육류·생선·과일 매장 직접 집품 · 전용 보냉 파우치 콜드체인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3548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매장 일부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PP센터 집품·포장 → 즉시 출고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3548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고객·용도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2030 · 소용량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(그로서리 90%)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장보기 수요 겨냥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35485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배송비 체계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무료배송 4만 원 이상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(쓱배송 동일)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4800" y="4827600"/>
            <a:ext cx="90576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※ 예약배송 </a:t>
            </a:r>
            <a:r>
              <a:rPr sz="8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(주간·새벽·트레이더스)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기존 운영 유지, 병행 이용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4986000"/>
            <a:ext cx="9057600" cy="19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확산 로드맵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4800" y="5407200"/>
            <a:ext cx="9057600" cy="0"/>
          </a:xfrm>
          <a:prstGeom prst="bentConnector3">
            <a:avLst/>
          </a:prstGeom>
          <a:ln w="25400">
            <a:solidFill>
              <a:srgbClr val="000000"/>
            </a:solidFill>
            <a:prstDash val="soli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506600" y="53568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800" y="5202000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800" y="5472000"/>
            <a:ext cx="226440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시범</a:t>
            </a:r>
          </a:p>
        </p:txBody>
      </p:sp>
      <p:sp>
        <p:nvSpPr>
          <p:cNvPr id="15" name="Oval 14"/>
          <p:cNvSpPr/>
          <p:nvPr/>
        </p:nvSpPr>
        <p:spPr>
          <a:xfrm>
            <a:off x="3771000" y="53568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9200" y="5202000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9200" y="5472000"/>
            <a:ext cx="226440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서울권 확대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18" name="Oval 17"/>
          <p:cNvSpPr/>
          <p:nvPr/>
        </p:nvSpPr>
        <p:spPr>
          <a:xfrm>
            <a:off x="6035400" y="53568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600" y="5202000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600" y="5472000"/>
            <a:ext cx="226440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21" name="Oval 20"/>
          <p:cNvSpPr/>
          <p:nvPr/>
        </p:nvSpPr>
        <p:spPr>
          <a:xfrm>
            <a:off x="8299800" y="53568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8000" y="5202000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8000" y="5472000"/>
            <a:ext cx="226440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24" name="Oval 23"/>
          <p:cNvSpPr/>
          <p:nvPr/>
        </p:nvSpPr>
        <p:spPr>
          <a:xfrm>
            <a:off x="8288999" y="5346000"/>
            <a:ext cx="122400" cy="122400"/>
          </a:xfrm>
          <a:prstGeom prst="ellipse">
            <a:avLst/>
          </a:prstGeom>
          <a:solidFill>
            <a:srgbClr val="C30C3E"/>
          </a:solidFill>
          <a:ln>
            <a:solidFill>
              <a:srgbClr val="C30C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800" y="57816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· 머니투데이 · 한국경제 · 뉴스핌 · 비즈니스포스트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