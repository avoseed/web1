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이마트, 점포 기반 '2시간 배송'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8928000" cy="23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취급 상품 </a:t>
            </a:r>
            <a:r>
              <a:rPr sz="1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소량 1만 종 → 마트 全 상품 15만 종 확대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— 점포(PP센터) 온라인 가동률 제고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800" y="1447199"/>
            <a:ext cx="7905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① 도입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98800" y="1648800"/>
            <a:ext cx="7707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'바로퀵'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(1시간 배송)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매출 197% 증가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('26.6월)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→ 퀵커머스 대용량 상품 수요 확대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98800" y="1850400"/>
            <a:ext cx="77076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업계 대용량 품목 취급 확대 → 소량 1시간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(이륜차)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·대용량 2시간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(사륜차)</a:t>
            </a:r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이원화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800" y="2109600"/>
            <a:ext cx="7905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② 서비스 개요 및 상품 차별점 — 소량 퀵커머스에서 全 상품 장보기로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000800" y="2325600"/>
          <a:ext cx="7905599" cy="24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7999"/>
                <a:gridCol w="2988000"/>
                <a:gridCol w="3909600"/>
              </a:tblGrid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'바로퀵'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(기존)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★ '2시간 배송'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1H 이내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3km)</a:t>
                      </a: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· 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2H 이내 · 사륜차 · 20시 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 </a:t>
                      </a:r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(소포장·즉석식품 중심)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(마트 全 상품)</a:t>
                      </a:r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— 대용량·신선 전면 개방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신선·포장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일반 포장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육류·생선·과일 매장 직접 집품 · 전용 보냉 파우치 콜드체인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매장 일부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PP센터 집품·포장 → 즉시 출고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고객·용도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2030 · 소용량 </a:t>
                      </a: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(그로서리 90%)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본 장보기 수요 겨냥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35485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조건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별도 배송비 체계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무료배송 4만 원 이상 </a:t>
                      </a:r>
                      <a:r>
                        <a:rPr sz="9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(쓱배송 동일)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00800" y="4827600"/>
            <a:ext cx="7905600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※ 예약배송 </a:t>
            </a: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(주간·새벽·트레이더스)</a:t>
            </a:r>
            <a:r>
              <a:rPr sz="9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 기존 운영 유지, 병행 이용 가능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800" y="4986000"/>
            <a:ext cx="7905600" cy="19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③ 확산 로드맵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0800" y="5407200"/>
            <a:ext cx="79056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9386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800" y="5202000"/>
            <a:ext cx="1976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'26.7월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800" y="5472000"/>
            <a:ext cx="1976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 시범</a:t>
            </a:r>
          </a:p>
        </p:txBody>
      </p:sp>
      <p:sp>
        <p:nvSpPr>
          <p:cNvPr id="15" name="Oval 14"/>
          <p:cNvSpPr/>
          <p:nvPr/>
        </p:nvSpPr>
        <p:spPr>
          <a:xfrm>
            <a:off x="39150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77200" y="5202000"/>
            <a:ext cx="1976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7200" y="5472000"/>
            <a:ext cx="1976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서울권 확대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(월계·가든5·신도림)</a:t>
            </a:r>
          </a:p>
        </p:txBody>
      </p:sp>
      <p:sp>
        <p:nvSpPr>
          <p:cNvPr id="18" name="Oval 17"/>
          <p:cNvSpPr/>
          <p:nvPr/>
        </p:nvSpPr>
        <p:spPr>
          <a:xfrm>
            <a:off x="58914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600" y="5202000"/>
            <a:ext cx="1976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600" y="5472000"/>
            <a:ext cx="1976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21" name="Oval 20"/>
          <p:cNvSpPr/>
          <p:nvPr/>
        </p:nvSpPr>
        <p:spPr>
          <a:xfrm>
            <a:off x="7867800" y="5356800"/>
            <a:ext cx="100800" cy="1008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0000" y="5202000"/>
            <a:ext cx="1976400" cy="1620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0000" y="5472000"/>
            <a:ext cx="1976400" cy="20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50여 점포 운영</a:t>
            </a:r>
          </a:p>
        </p:txBody>
      </p:sp>
      <p:sp>
        <p:nvSpPr>
          <p:cNvPr id="24" name="Oval 23"/>
          <p:cNvSpPr/>
          <p:nvPr/>
        </p:nvSpPr>
        <p:spPr>
          <a:xfrm>
            <a:off x="7857000" y="5346000"/>
            <a:ext cx="122400" cy="122400"/>
          </a:xfrm>
          <a:prstGeom prst="ellipse">
            <a:avLst/>
          </a:prstGeom>
          <a:solidFill>
            <a:srgbClr val="C30C3E"/>
          </a:solidFill>
          <a:ln>
            <a:solidFill>
              <a:srgbClr val="C30C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800" y="5781600"/>
            <a:ext cx="790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· 머니투데이 · 한국경제 · 뉴스핌 · 비즈니스포스트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('26.7.8~10)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