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5600" y="432000"/>
            <a:ext cx="9050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■  </a:t>
            </a:r>
            <a:r>
              <a:rPr sz="20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이마트 퀵커머스 '2시간 배송' 서비스 도입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600" y="1044000"/>
            <a:ext cx="7830000" cy="23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■ 양재·하남점 '2시간 배송' 시범 도입 — 대용량 장보기 공략·점포 물류기지 가동률 제고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2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취급 품목 : 이마트 15만 · 바로퀵 1만 · B마트 2만 종      ※ 출처 : 비즈워치 ('26. 7. 10.)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48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현황 및 배경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248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24800" y="1962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수요 급증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2800" y="2185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오토바이 배송(바로퀵) 매출 197%↑ ('26.6월)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2800" y="24084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B마트 등 경쟁사도 대용량 품목 확대 추세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4800" y="2786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퀵커머스 서비스 이원화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2800" y="300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- 1시간 배송(소량) + 2시간 배송(대용량) 이원화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2800" y="32327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점포 15만 종 구색 기반 (바로퀵 1만 대비 15배)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4800" y="3654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이마트 배송 체계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24800" y="4014000"/>
          <a:ext cx="4265999" cy="2059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66000"/>
                <a:gridCol w="1080000"/>
                <a:gridCol w="954000"/>
                <a:gridCol w="648000"/>
                <a:gridCol w="917999"/>
              </a:tblGrid>
              <a:tr h="3432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서비스명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피킹·패킹 거점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규모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EAEEF6"/>
                    </a:solidFill>
                  </a:tcPr>
                </a:tc>
              </a:tr>
              <a:tr h="343200"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센터+점포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센터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rowSpan="2"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배송</a:t>
                      </a:r>
                    </a:p>
                    <a:p>
                      <a:pPr algn="ctr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(바로퀵)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(반경 3km)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 (1만 종)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3200">
                <a:tc vMerge="1">
                  <a:txBody>
                    <a:bodyPr wrap="square"/>
                    <a:lstStyle/>
                    <a:p/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206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</a:t>
                      </a:r>
                    </a:p>
                  </a:txBody>
                  <a:tcPr anchor="ctr" marL="36000" marR="36000" marT="0" marB="0">
                    <a:lnL w="9525" cap="flat">
                      <a:solidFill>
                        <a:srgbClr val="BFBFBF"/>
                      </a:solidFill>
                    </a:lnL>
                    <a:lnR w="9525" cap="flat">
                      <a:solidFill>
                        <a:srgbClr val="BFBFBF"/>
                      </a:solidFill>
                    </a:lnR>
                    <a:lnT w="9525" cap="flat">
                      <a:solidFill>
                        <a:srgbClr val="BFBFBF"/>
                      </a:solidFill>
                    </a:lnT>
                    <a:lnB w="9525" cap="flat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5072400" y="1504800"/>
            <a:ext cx="441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서비스 세부 내용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72400" y="1789200"/>
            <a:ext cx="4410000" cy="0"/>
          </a:xfrm>
          <a:prstGeom prst="bentConnector3">
            <a:avLst/>
          </a:prstGeom>
          <a:ln w="19050">
            <a:solidFill>
              <a:srgbClr val="000000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72400" y="1958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확산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70400" y="2181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연말 50여 개 점포, 전국 즉시배송 기반 구축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2400" y="2512800"/>
            <a:ext cx="4410000" cy="8712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5198400" y="2847600"/>
            <a:ext cx="4158000" cy="0"/>
          </a:xfrm>
          <a:prstGeom prst="bentConnector3">
            <a:avLst/>
          </a:prstGeom>
          <a:ln w="25400">
            <a:solidFill>
              <a:srgbClr val="000000"/>
            </a:solidFill>
            <a:prstDash val="solid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671349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984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'26. 7월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84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양재·하남점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도입</a:t>
            </a:r>
          </a:p>
        </p:txBody>
      </p:sp>
      <p:sp>
        <p:nvSpPr>
          <p:cNvPr id="24" name="Oval 23"/>
          <p:cNvSpPr/>
          <p:nvPr/>
        </p:nvSpPr>
        <p:spPr>
          <a:xfrm>
            <a:off x="67108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79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8월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79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서울 지역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확대</a:t>
            </a:r>
          </a:p>
        </p:txBody>
      </p:sp>
      <p:sp>
        <p:nvSpPr>
          <p:cNvPr id="27" name="Oval 26"/>
          <p:cNvSpPr/>
          <p:nvPr/>
        </p:nvSpPr>
        <p:spPr>
          <a:xfrm>
            <a:off x="77503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77399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9월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77399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전국 확대</a:t>
            </a:r>
          </a:p>
        </p:txBody>
      </p:sp>
      <p:sp>
        <p:nvSpPr>
          <p:cNvPr id="30" name="Oval 29"/>
          <p:cNvSpPr/>
          <p:nvPr/>
        </p:nvSpPr>
        <p:spPr>
          <a:xfrm>
            <a:off x="8789850" y="2800800"/>
            <a:ext cx="93600" cy="93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16900" y="2649600"/>
            <a:ext cx="1039500" cy="1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연말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6900" y="2919600"/>
            <a:ext cx="10395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약 50개 점포</a:t>
            </a:r>
          </a:p>
          <a:p>
            <a:pPr algn="ctr"/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운영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2400" y="35640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운영 방침 ('26. 7. 9.~)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70400" y="3787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- 20시까지 주문 접수 → 결제 후 2시간 내 배송 완료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70400" y="40103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기존 예약배송 병행 선택 가능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70400" y="4233599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쓱배송 사륜차로 대용량·중량 상품 대응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2400" y="46368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기대 효과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0400" y="48600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대용량 즉시배송 서비스 공백 흡수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70400" y="50832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- 160여 PP센터 즉시배송 기지화·낮 가동률 제고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72400" y="5486400"/>
            <a:ext cx="4410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규제 변수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70400" y="57096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유통산업발전법 → 점포 물류거점(PP센터) 새벽 불가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70400" y="5932800"/>
            <a:ext cx="4212000" cy="22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규제 완화 논의 중 → 개정 시 새벽배송 확장 여지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953600" y="1504800"/>
            <a:ext cx="0" cy="4568400"/>
          </a:xfrm>
          <a:prstGeom prst="bentConnector3">
            <a:avLst/>
          </a:prstGeom>
          <a:ln w="9525">
            <a:solidFill>
              <a:srgbClr val="BFBFBF"/>
            </a:solidFill>
            <a:prstDash val="soli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