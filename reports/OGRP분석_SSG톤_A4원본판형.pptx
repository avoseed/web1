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등재율</c:v>
                </c:pt>
              </c:strCache>
            </c:strRef>
          </c:tx>
          <c:spPr>
            <a:solidFill>
              <a:srgbClr val="222222"/>
            </a:solidFill>
            <a:ln>
              <a:noFill/>
            </a:ln>
          </c:spPr>
          <c:cat>
            <c:strRef>
              <c:f>Sheet1!$A$2:$A$19</c:f>
              <c:strCache>
                <c:ptCount val="18"/>
                <c:pt idx="0">
                  <c:v>Toysrus팀</c:v>
                </c:pt>
                <c:pt idx="1">
                  <c:v>언더잡화스포츠팀</c:v>
                </c:pt>
                <c:pt idx="2">
                  <c:v>베드&amp;배스팀</c:v>
                </c:pt>
                <c:pt idx="3">
                  <c:v>베이커리팀</c:v>
                </c:pt>
                <c:pt idx="4">
                  <c:v>델리개발팀</c:v>
                </c:pt>
                <c:pt idx="5">
                  <c:v>라이프스타일팀</c:v>
                </c:pt>
                <c:pt idx="6">
                  <c:v>키친팀</c:v>
                </c:pt>
                <c:pt idx="7">
                  <c:v>수산팀</c:v>
                </c:pt>
                <c:pt idx="8">
                  <c:v>축산팀</c:v>
                </c:pt>
                <c:pt idx="9">
                  <c:v>과일팀</c:v>
                </c:pt>
                <c:pt idx="10">
                  <c:v>일상용품팀</c:v>
                </c:pt>
                <c:pt idx="11">
                  <c:v>채소팀</c:v>
                </c:pt>
                <c:pt idx="12">
                  <c:v>냉동식품팀</c:v>
                </c:pt>
                <c:pt idx="13">
                  <c:v>곡물계란팀</c:v>
                </c:pt>
                <c:pt idx="14">
                  <c:v>음료주류팀</c:v>
                </c:pt>
                <c:pt idx="15">
                  <c:v>기호식품팀</c:v>
                </c:pt>
                <c:pt idx="16">
                  <c:v>조미대용식품팀</c:v>
                </c:pt>
                <c:pt idx="17">
                  <c:v>냉장식품팀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9.4</c:v>
                </c:pt>
                <c:pt idx="1">
                  <c:v>3.0</c:v>
                </c:pt>
                <c:pt idx="2">
                  <c:v>1.0</c:v>
                </c:pt>
                <c:pt idx="3">
                  <c:v>10.0</c:v>
                </c:pt>
                <c:pt idx="4">
                  <c:v>17.1</c:v>
                </c:pt>
                <c:pt idx="5">
                  <c:v>8.0</c:v>
                </c:pt>
                <c:pt idx="6">
                  <c:v>2.2</c:v>
                </c:pt>
                <c:pt idx="7">
                  <c:v>7.1</c:v>
                </c:pt>
                <c:pt idx="8">
                  <c:v>20.1</c:v>
                </c:pt>
                <c:pt idx="9">
                  <c:v>19.9</c:v>
                </c:pt>
                <c:pt idx="10">
                  <c:v>3.6</c:v>
                </c:pt>
                <c:pt idx="11">
                  <c:v>29.0</c:v>
                </c:pt>
                <c:pt idx="12">
                  <c:v>0.0</c:v>
                </c:pt>
                <c:pt idx="13">
                  <c:v>20.0</c:v>
                </c:pt>
                <c:pt idx="14">
                  <c:v>18.1</c:v>
                </c:pt>
                <c:pt idx="15">
                  <c:v>17.9</c:v>
                </c:pt>
                <c:pt idx="16">
                  <c:v>15.0</c:v>
                </c:pt>
                <c:pt idx="17">
                  <c:v>30.3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750" b="1">
                  <a:solidFill>
                    <a:srgbClr val="222222"/>
                  </a:solidFill>
                  <a:latin typeface="나눔바른고딕OTF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6350">
            <a:solidFill>
              <a:srgbClr val="6B7280"/>
            </a:solidFill>
          </a:ln>
        </c:spPr>
        <c:txPr>
          <a:bodyPr/>
          <a:lstStyle/>
          <a:p>
            <a:pPr>
              <a:defRPr sz="800">
                <a:latin typeface="나눔바른고딕OTF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 w="6350">
              <a:solidFill>
                <a:srgbClr val="E5E7EB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>
                <a:latin typeface="나눔바른고딕OTF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22222"/>
          </a:solidFill>
          <a:latin typeface="나눔바른고딕OTF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판매 낱개 비중</c:v>
                </c:pt>
              </c:strCache>
            </c:strRef>
          </c:tx>
          <c:spPr>
            <a:solidFill>
              <a:srgbClr val="222222"/>
            </a:solidFill>
            <a:ln>
              <a:noFill/>
            </a:ln>
          </c:spPr>
          <c:cat>
            <c:strRef>
              <c:f>Sheet1!$A$2:$A$19</c:f>
              <c:strCache>
                <c:ptCount val="18"/>
                <c:pt idx="0">
                  <c:v>냉장식품팀</c:v>
                </c:pt>
                <c:pt idx="1">
                  <c:v>조미대용식품팀</c:v>
                </c:pt>
                <c:pt idx="2">
                  <c:v>기호식품팀</c:v>
                </c:pt>
                <c:pt idx="3">
                  <c:v>음료주류팀</c:v>
                </c:pt>
                <c:pt idx="4">
                  <c:v>곡물계란팀</c:v>
                </c:pt>
                <c:pt idx="5">
                  <c:v>냉동식품팀</c:v>
                </c:pt>
                <c:pt idx="6">
                  <c:v>채소팀</c:v>
                </c:pt>
                <c:pt idx="7">
                  <c:v>일상용품팀</c:v>
                </c:pt>
                <c:pt idx="8">
                  <c:v>과일팀</c:v>
                </c:pt>
                <c:pt idx="9">
                  <c:v>축산팀</c:v>
                </c:pt>
                <c:pt idx="10">
                  <c:v>수산팀</c:v>
                </c:pt>
                <c:pt idx="11">
                  <c:v>키친팀</c:v>
                </c:pt>
                <c:pt idx="12">
                  <c:v>라이프스타일팀</c:v>
                </c:pt>
                <c:pt idx="13">
                  <c:v>델리개발팀</c:v>
                </c:pt>
                <c:pt idx="14">
                  <c:v>베이커리팀</c:v>
                </c:pt>
                <c:pt idx="15">
                  <c:v>베드&amp;배스팀</c:v>
                </c:pt>
                <c:pt idx="16">
                  <c:v>언더잡화스포츠팀</c:v>
                </c:pt>
                <c:pt idx="17">
                  <c:v>Toysrus팀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17.6</c:v>
                </c:pt>
                <c:pt idx="1">
                  <c:v>17.5</c:v>
                </c:pt>
                <c:pt idx="2">
                  <c:v>14.7</c:v>
                </c:pt>
                <c:pt idx="3">
                  <c:v>9.4</c:v>
                </c:pt>
                <c:pt idx="4">
                  <c:v>8.8</c:v>
                </c:pt>
                <c:pt idx="5">
                  <c:v>8.0</c:v>
                </c:pt>
                <c:pt idx="6">
                  <c:v>6.6</c:v>
                </c:pt>
                <c:pt idx="7">
                  <c:v>4.4</c:v>
                </c:pt>
                <c:pt idx="8">
                  <c:v>4.3</c:v>
                </c:pt>
                <c:pt idx="9">
                  <c:v>4.1</c:v>
                </c:pt>
                <c:pt idx="10">
                  <c:v>2.3</c:v>
                </c:pt>
                <c:pt idx="11">
                  <c:v>1.1</c:v>
                </c:pt>
                <c:pt idx="12">
                  <c:v>0.4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0.1</c:v>
                </c:pt>
                <c:pt idx="17">
                  <c:v>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그린리스트 등재율</c:v>
                </c:pt>
              </c:strCache>
            </c:strRef>
          </c:tx>
          <c:spPr>
            <a:solidFill>
              <a:srgbClr val="9CA3AF"/>
            </a:solidFill>
            <a:ln>
              <a:noFill/>
            </a:ln>
          </c:spPr>
          <c:cat>
            <c:strRef>
              <c:f>Sheet1!$A$2:$A$19</c:f>
              <c:strCache>
                <c:ptCount val="18"/>
                <c:pt idx="0">
                  <c:v>냉장식품팀</c:v>
                </c:pt>
                <c:pt idx="1">
                  <c:v>조미대용식품팀</c:v>
                </c:pt>
                <c:pt idx="2">
                  <c:v>기호식품팀</c:v>
                </c:pt>
                <c:pt idx="3">
                  <c:v>음료주류팀</c:v>
                </c:pt>
                <c:pt idx="4">
                  <c:v>곡물계란팀</c:v>
                </c:pt>
                <c:pt idx="5">
                  <c:v>냉동식품팀</c:v>
                </c:pt>
                <c:pt idx="6">
                  <c:v>채소팀</c:v>
                </c:pt>
                <c:pt idx="7">
                  <c:v>일상용품팀</c:v>
                </c:pt>
                <c:pt idx="8">
                  <c:v>과일팀</c:v>
                </c:pt>
                <c:pt idx="9">
                  <c:v>축산팀</c:v>
                </c:pt>
                <c:pt idx="10">
                  <c:v>수산팀</c:v>
                </c:pt>
                <c:pt idx="11">
                  <c:v>키친팀</c:v>
                </c:pt>
                <c:pt idx="12">
                  <c:v>라이프스타일팀</c:v>
                </c:pt>
                <c:pt idx="13">
                  <c:v>델리개발팀</c:v>
                </c:pt>
                <c:pt idx="14">
                  <c:v>베이커리팀</c:v>
                </c:pt>
                <c:pt idx="15">
                  <c:v>베드&amp;배스팀</c:v>
                </c:pt>
                <c:pt idx="16">
                  <c:v>언더잡화스포츠팀</c:v>
                </c:pt>
                <c:pt idx="17">
                  <c:v>Toysrus팀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30.3</c:v>
                </c:pt>
                <c:pt idx="1">
                  <c:v>15.0</c:v>
                </c:pt>
                <c:pt idx="2">
                  <c:v>17.9</c:v>
                </c:pt>
                <c:pt idx="3">
                  <c:v>18.1</c:v>
                </c:pt>
                <c:pt idx="4">
                  <c:v>20.0</c:v>
                </c:pt>
                <c:pt idx="5">
                  <c:v>0.0</c:v>
                </c:pt>
                <c:pt idx="6">
                  <c:v>29.0</c:v>
                </c:pt>
                <c:pt idx="7">
                  <c:v>3.6</c:v>
                </c:pt>
                <c:pt idx="8">
                  <c:v>19.9</c:v>
                </c:pt>
                <c:pt idx="9">
                  <c:v>20.1</c:v>
                </c:pt>
                <c:pt idx="10">
                  <c:v>7.1</c:v>
                </c:pt>
                <c:pt idx="11">
                  <c:v>2.2</c:v>
                </c:pt>
                <c:pt idx="12">
                  <c:v>8.0</c:v>
                </c:pt>
                <c:pt idx="13">
                  <c:v>17.1</c:v>
                </c:pt>
                <c:pt idx="14">
                  <c:v>10.0</c:v>
                </c:pt>
                <c:pt idx="15">
                  <c:v>1.0</c:v>
                </c:pt>
                <c:pt idx="16">
                  <c:v>3.0</c:v>
                </c:pt>
                <c:pt idx="17">
                  <c:v>9.4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700" b="1">
                  <a:solidFill>
                    <a:srgbClr val="222222"/>
                  </a:solidFill>
                  <a:latin typeface="나눔바른고딕OTF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1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6350">
            <a:solidFill>
              <a:srgbClr val="6B7280"/>
            </a:solidFill>
          </a:ln>
        </c:spPr>
        <c:txPr>
          <a:bodyPr/>
          <a:lstStyle/>
          <a:p>
            <a:pPr>
              <a:defRPr sz="800">
                <a:latin typeface="나눔바른고딕OTF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>
                <a:latin typeface="나눔바른고딕OTF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800">
          <a:solidFill>
            <a:srgbClr val="222222"/>
          </a:solidFill>
          <a:latin typeface="나눔바른고딕OTF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등재율</c:v>
                </c:pt>
              </c:strCache>
            </c:strRef>
          </c:tx>
          <c:spPr>
            <a:solidFill>
              <a:srgbClr val="222222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~200g</c:v>
                </c:pt>
                <c:pt idx="1">
                  <c:v>200~500g</c:v>
                </c:pt>
                <c:pt idx="2">
                  <c:v>500g~1kg</c:v>
                </c:pt>
                <c:pt idx="3">
                  <c:v>1~2kg</c:v>
                </c:pt>
                <c:pt idx="4">
                  <c:v>2kg 이상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20.2</c:v>
                </c:pt>
                <c:pt idx="1">
                  <c:v>15.3</c:v>
                </c:pt>
                <c:pt idx="2">
                  <c:v>11.6</c:v>
                </c:pt>
                <c:pt idx="3">
                  <c:v>14.3</c:v>
                </c:pt>
                <c:pt idx="4">
                  <c:v>0.0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 b="1">
                  <a:solidFill>
                    <a:srgbClr val="222222"/>
                  </a:solidFill>
                  <a:latin typeface="나눔바른고딕OTF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6350">
            <a:solidFill>
              <a:srgbClr val="6B7280"/>
            </a:solidFill>
          </a:ln>
        </c:spPr>
        <c:txPr>
          <a:bodyPr/>
          <a:lstStyle/>
          <a:p>
            <a:pPr>
              <a:defRPr sz="900">
                <a:latin typeface="나눔바른고딕OTF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.0"/>
          <c:min val="0.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latin typeface="나눔바른고딕OTF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222222"/>
          </a:solidFill>
          <a:latin typeface="나눔바른고딕OTF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등재율</c:v>
                </c:pt>
              </c:strCache>
            </c:strRef>
          </c:tx>
          <c:spPr>
            <a:solidFill>
              <a:srgbClr val="222222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1~100</c:v>
                </c:pt>
                <c:pt idx="1">
                  <c:v>101~500</c:v>
                </c:pt>
                <c:pt idx="2">
                  <c:v>501~1,000</c:v>
                </c:pt>
                <c:pt idx="3">
                  <c:v>1,001~2,000</c:v>
                </c:pt>
                <c:pt idx="4">
                  <c:v>2,001~5,000</c:v>
                </c:pt>
                <c:pt idx="5">
                  <c:v>5,001~9,964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61.0</c:v>
                </c:pt>
                <c:pt idx="1">
                  <c:v>69.8</c:v>
                </c:pt>
                <c:pt idx="2">
                  <c:v>63.4</c:v>
                </c:pt>
                <c:pt idx="3">
                  <c:v>46.1</c:v>
                </c:pt>
                <c:pt idx="4">
                  <c:v>17.2</c:v>
                </c:pt>
                <c:pt idx="5">
                  <c:v>8.1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 b="1">
                  <a:solidFill>
                    <a:srgbClr val="222222"/>
                  </a:solidFill>
                  <a:latin typeface="나눔바른고딕OTF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6350">
            <a:solidFill>
              <a:srgbClr val="6B7280"/>
            </a:solidFill>
          </a:ln>
        </c:spPr>
        <c:txPr>
          <a:bodyPr/>
          <a:lstStyle/>
          <a:p>
            <a:pPr>
              <a:defRPr sz="850">
                <a:latin typeface="나눔바른고딕OTF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나눔바른고딕OTF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50">
          <a:solidFill>
            <a:srgbClr val="222222"/>
          </a:solidFill>
          <a:latin typeface="나눔바른고딕OTF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유휴율</c:v>
                </c:pt>
              </c:strCache>
            </c:strRef>
          </c:tx>
          <c:spPr>
            <a:solidFill>
              <a:srgbClr val="E50012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키친팀</c:v>
                </c:pt>
                <c:pt idx="1">
                  <c:v>음료주류팀</c:v>
                </c:pt>
                <c:pt idx="2">
                  <c:v>냉장식품팀</c:v>
                </c:pt>
                <c:pt idx="3">
                  <c:v>일상용품팀</c:v>
                </c:pt>
                <c:pt idx="4">
                  <c:v>언더잡화스포츠팀</c:v>
                </c:pt>
                <c:pt idx="5">
                  <c:v>조미대용식품팀</c:v>
                </c:pt>
                <c:pt idx="6">
                  <c:v>Toysrus팀</c:v>
                </c:pt>
                <c:pt idx="7">
                  <c:v>라이프스타일팀</c:v>
                </c:pt>
                <c:pt idx="8">
                  <c:v>기호식품팀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42.3</c:v>
                </c:pt>
                <c:pt idx="1">
                  <c:v>12.8</c:v>
                </c:pt>
                <c:pt idx="2">
                  <c:v>9.6</c:v>
                </c:pt>
                <c:pt idx="3">
                  <c:v>55.3</c:v>
                </c:pt>
                <c:pt idx="4">
                  <c:v>81.0</c:v>
                </c:pt>
                <c:pt idx="5">
                  <c:v>17.6</c:v>
                </c:pt>
                <c:pt idx="6">
                  <c:v>92.5</c:v>
                </c:pt>
                <c:pt idx="7">
                  <c:v>83.1</c:v>
                </c:pt>
                <c:pt idx="8">
                  <c:v>32.2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800" b="1">
                  <a:solidFill>
                    <a:srgbClr val="222222"/>
                  </a:solidFill>
                  <a:latin typeface="나눔바른고딕OTF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6350">
            <a:solidFill>
              <a:srgbClr val="6B7280"/>
            </a:solidFill>
          </a:ln>
        </c:spPr>
        <c:txPr>
          <a:bodyPr/>
          <a:lstStyle/>
          <a:p>
            <a:pPr>
              <a:defRPr sz="850">
                <a:latin typeface="나눔바른고딕OTF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 w="6350">
              <a:solidFill>
                <a:srgbClr val="E5E7EB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나눔바른고딕OTF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50">
          <a:solidFill>
            <a:srgbClr val="222222"/>
          </a:solidFill>
          <a:latin typeface="나눔바른고딕OTF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등재율</c:v>
                </c:pt>
              </c:strCache>
            </c:strRef>
          </c:tx>
          <c:spPr>
            <a:solidFill>
              <a:srgbClr val="222222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1~5</c:v>
                </c:pt>
                <c:pt idx="1">
                  <c:v>6~20</c:v>
                </c:pt>
                <c:pt idx="2">
                  <c:v>21~50</c:v>
                </c:pt>
                <c:pt idx="3">
                  <c:v>51~100</c:v>
                </c:pt>
                <c:pt idx="4">
                  <c:v>101 이상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8.3</c:v>
                </c:pt>
                <c:pt idx="1">
                  <c:v>20.1</c:v>
                </c:pt>
                <c:pt idx="2">
                  <c:v>53.8</c:v>
                </c:pt>
                <c:pt idx="3">
                  <c:v>63.8</c:v>
                </c:pt>
                <c:pt idx="4">
                  <c:v>68.7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낱개 비중</c:v>
                </c:pt>
              </c:strCache>
            </c:strRef>
          </c:tx>
          <c:spPr>
            <a:solidFill>
              <a:srgbClr val="9CA3AF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1~5</c:v>
                </c:pt>
                <c:pt idx="1">
                  <c:v>6~20</c:v>
                </c:pt>
                <c:pt idx="2">
                  <c:v>21~50</c:v>
                </c:pt>
                <c:pt idx="3">
                  <c:v>51~100</c:v>
                </c:pt>
                <c:pt idx="4">
                  <c:v>101 이상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6.8</c:v>
                </c:pt>
                <c:pt idx="1">
                  <c:v>16.7</c:v>
                </c:pt>
                <c:pt idx="2">
                  <c:v>18.0</c:v>
                </c:pt>
                <c:pt idx="3">
                  <c:v>15.8</c:v>
                </c:pt>
                <c:pt idx="4">
                  <c:v>42.7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800" b="1">
                  <a:solidFill>
                    <a:srgbClr val="222222"/>
                  </a:solidFill>
                  <a:latin typeface="나눔바른고딕OTF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-1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6350">
            <a:solidFill>
              <a:srgbClr val="6B7280"/>
            </a:solidFill>
          </a:ln>
        </c:spPr>
        <c:txPr>
          <a:bodyPr/>
          <a:lstStyle/>
          <a:p>
            <a:pPr>
              <a:defRPr sz="850">
                <a:latin typeface="나눔바른고딕OTF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나눔바른고딕OTF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50"/>
          </a:pPr>
        </a:p>
      </c:txPr>
    </c:legend>
    <c:dispBlanksAs val="gap"/>
  </c:chart>
  <c:txPr>
    <a:bodyPr/>
    <a:lstStyle/>
    <a:p>
      <a:pPr>
        <a:defRPr sz="850">
          <a:solidFill>
            <a:srgbClr val="222222"/>
          </a:solidFill>
          <a:latin typeface="나눔바른고딕OTF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Velocity</c:v>
                </c:pt>
              </c:strCache>
            </c:strRef>
          </c:tx>
          <c:spPr>
            <a:solidFill>
              <a:srgbClr val="9CA3A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상온</c:v>
                </c:pt>
                <c:pt idx="1">
                  <c:v>냉장</c:v>
                </c:pt>
                <c:pt idx="2">
                  <c:v>합계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50.28</c:v>
                </c:pt>
                <c:pt idx="1">
                  <c:v>54.82</c:v>
                </c:pt>
                <c:pt idx="2">
                  <c:v>52.29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Utilization</c:v>
                </c:pt>
              </c:strCache>
            </c:strRef>
          </c:tx>
          <c:spPr>
            <a:solidFill>
              <a:srgbClr val="222222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상온</c:v>
                </c:pt>
                <c:pt idx="1">
                  <c:v>냉장</c:v>
                </c:pt>
                <c:pt idx="2">
                  <c:v>합계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53.64</c:v>
                </c:pt>
                <c:pt idx="1">
                  <c:v>35.05</c:v>
                </c:pt>
                <c:pt idx="2">
                  <c:v>45.03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Throughput</c:v>
                </c:pt>
              </c:strCache>
            </c:strRef>
          </c:tx>
          <c:spPr>
            <a:solidFill>
              <a:srgbClr val="E50012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상온</c:v>
                </c:pt>
                <c:pt idx="1">
                  <c:v>냉장</c:v>
                </c:pt>
                <c:pt idx="2">
                  <c:v>합계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26.97</c:v>
                </c:pt>
                <c:pt idx="1">
                  <c:v>19.24</c:v>
                </c:pt>
                <c:pt idx="2">
                  <c:v>23.56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800" b="1">
                  <a:solidFill>
                    <a:srgbClr val="222222"/>
                  </a:solidFill>
                  <a:latin typeface="나눔바른고딕OTF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-1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6350">
            <a:solidFill>
              <a:srgbClr val="6B7280"/>
            </a:solidFill>
          </a:ln>
        </c:spPr>
        <c:txPr>
          <a:bodyPr/>
          <a:lstStyle/>
          <a:p>
            <a:pPr>
              <a:defRPr sz="850">
                <a:latin typeface="나눔바른고딕OTF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  <c:min val="0.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나눔바른고딕OTF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50"/>
          </a:pPr>
        </a:p>
      </c:txPr>
    </c:legend>
    <c:dispBlanksAs val="gap"/>
  </c:chart>
  <c:txPr>
    <a:bodyPr/>
    <a:lstStyle/>
    <a:p>
      <a:pPr>
        <a:defRPr sz="850">
          <a:solidFill>
            <a:srgbClr val="222222"/>
          </a:solidFill>
          <a:latin typeface="나눔바른고딕OTF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5677" y="306000"/>
            <a:ext cx="3480645" cy="43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1. CFC 재고 현황 분석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882857" y="674831"/>
            <a:ext cx="2926285" cy="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0000" y="826031"/>
            <a:ext cx="93600" cy="936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5600" y="782831"/>
            <a:ext cx="943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재고 25,756 SKU 중 상온이 81.3%, 비식품이 절반 — 팀별로는 조미대용식품 · 기호식품 · 일상용품이 재고의 39%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160831"/>
            <a:ext cx="466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재고 구성 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1348031"/>
            <a:ext cx="1060054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61600" y="1438031"/>
            <a:ext cx="86400" cy="86400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2000" y="1376831"/>
            <a:ext cx="4500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상온·냉장 94.4% 점유, 비식품은 판매율 18.6%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1585631"/>
            <a:ext cx="462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온도대(존)별 구성 (SKU, %) -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0000" y="1758431"/>
          <a:ext cx="4661998" cy="102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1093"/>
                <a:gridCol w="1456874"/>
                <a:gridCol w="1384031"/>
              </a:tblGrid>
              <a:tr h="223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온도대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재고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상온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20,927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81.3%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냉장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3,399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13.2%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냉동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1,430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25,756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6000" y="2932031"/>
            <a:ext cx="462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식품 / 비식품 구성 (SKU, 판매율) -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0000" y="3090431"/>
          <a:ext cx="4661997" cy="82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6968"/>
                <a:gridCol w="983390"/>
                <a:gridCol w="837703"/>
                <a:gridCol w="983390"/>
                <a:gridCol w="910546"/>
              </a:tblGrid>
              <a:tr h="223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재고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판매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판매율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식품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12,772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49.6%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8,064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63.1%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비식품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12,984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50.4%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2,414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18.6%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25,756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10,478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40.7%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40000" y="4055231"/>
            <a:ext cx="4662000" cy="46800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비식품이 재고의 50.4%를 차지하나 판매율은 18.6%</a:t>
            </a:r>
          </a:p>
          <a:p>
            <a:pPr algn="l"/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식품 판매율 63.1%의 3분의 1 수준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00" y="4667231"/>
            <a:ext cx="462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재고 구성의 특징 (상기 2개 표 종합) 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000" y="4825631"/>
            <a:ext cx="4553999" cy="20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 재고 25,756 SKU 중 15,278 SKU(57.0%)가 기간 내 미판매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000" y="5027231"/>
            <a:ext cx="4553999" cy="20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 비식품 4개 팀이 재고 9,933 SKU 보유, 낱개 기여는 6.0%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000" y="5228831"/>
            <a:ext cx="4553999" cy="20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 구색 확보용 롱테일 구조로 OGRP 대상에서 사실상 제외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000" y="5430431"/>
            <a:ext cx="4553999" cy="20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 냉장식품팀은 재고 1,722 SKU로 낱개 17.6% 담당 — 회전 최고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90000" y="1160831"/>
            <a:ext cx="466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팀별 재고 현황 】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90000" y="1348031"/>
            <a:ext cx="1395990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511600" y="1438031"/>
            <a:ext cx="86400" cy="86400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52000" y="1376831"/>
            <a:ext cx="4500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재고 상위 3개 팀이 39% 점유 — 판매율 순위와는 불일치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6000" y="1585631"/>
            <a:ext cx="462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전체 18개 팀 (재고·판매 SKU, 판매율) -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490000" y="1758431"/>
          <a:ext cx="4661996" cy="336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0274"/>
                <a:gridCol w="854106"/>
                <a:gridCol w="676167"/>
                <a:gridCol w="854106"/>
                <a:gridCol w="747343"/>
              </a:tblGrid>
              <a:tr h="223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재고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판매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판매율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냉장식품팀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1,722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6.7%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1,394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77.1%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조미대용식품팀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3,584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13.9%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2,184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60.5%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기호식품팀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3,355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1,664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48.4%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음료주류팀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3.6%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672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70.7%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곡물계란팀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585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2.3%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73.2%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냉동식품팀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1,310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5.1%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805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61.0%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채소팀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1.8%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356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73.4%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일상용품팀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3,131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12.2%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1,188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37.2%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과일팀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88.7%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축산팀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84.6%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수산팀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589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2.3%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343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56.7%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키친팀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2,120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8.2%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23.7%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라이프스타일팀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2,213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12.1%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델리개발팀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65.7%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베이커리팀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28.7%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베드&amp;배스팀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987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3.8%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17.4%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언더잡화스포츠팀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2,469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6.4%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Toysrus팀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1,669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6.5%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108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5.8%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25,756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10,811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40.7%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40000" y="5742000"/>
            <a:ext cx="961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본 보고서의 분석 흐름 】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0000" y="5929200"/>
            <a:ext cx="1877986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76000" y="5965200"/>
            <a:ext cx="957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재고 → 판매 → 정합성 검증 → 선정 기준 분석 → 실적 분석 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0000" y="6138000"/>
            <a:ext cx="1743839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0000" y="6138000"/>
            <a:ext cx="1743839" cy="2016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재고 현황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400" y="6382800"/>
            <a:ext cx="1571039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보유 SKU의 온도대·팀별 구성 파악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330639" y="6382800"/>
            <a:ext cx="129600" cy="100800"/>
          </a:xfrm>
          <a:prstGeom prst="rightArrow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07040" y="6138000"/>
            <a:ext cx="1743839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07040" y="6138000"/>
            <a:ext cx="1743839" cy="2016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판매 상품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93440" y="6382800"/>
            <a:ext cx="1571039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실제 판매 SKU와 낱개 분포 파악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4297680" y="6382800"/>
            <a:ext cx="129600" cy="100800"/>
          </a:xfrm>
          <a:prstGeom prst="rightArrow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74080" y="6138000"/>
            <a:ext cx="1743839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74080" y="6138000"/>
            <a:ext cx="1743839" cy="2016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정합성 검증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60480" y="6382800"/>
            <a:ext cx="1571039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OGRP 대시보드와의 모수 일치 확인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6264719" y="6382800"/>
            <a:ext cx="129600" cy="100800"/>
          </a:xfrm>
          <a:prstGeom prst="rightArrow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41120" y="6138000"/>
            <a:ext cx="1743839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41120" y="6138000"/>
            <a:ext cx="1743839" cy="2016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그린리스트 분석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7519" y="6382800"/>
            <a:ext cx="1571039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로봇 대상 선정 기준과 확대 여지 진단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8231759" y="6382800"/>
            <a:ext cx="129600" cy="100800"/>
          </a:xfrm>
          <a:prstGeom prst="rightArrow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08160" y="6138000"/>
            <a:ext cx="1743839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08160" y="6138000"/>
            <a:ext cx="1743839" cy="2016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실제 픽 실적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94559" y="6382800"/>
            <a:ext cx="1571039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선정분 대비 로봇 처리 실적 분석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0000" y="6786000"/>
            <a:ext cx="9612000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1) 재고 기준일 2026-07-28, 판매 여부는 7/14~7/27 매출 발생 기준. 팀 구분은 매출 데이터의 팀-대분류 체계(1:1)를 재고·그린리스트에 동일 적용.</a:t>
            </a:r>
          </a:p>
          <a:p>
            <a:pPr>
              <a:lnSpc>
                <a:spcPct val="125000"/>
              </a:lnSpc>
            </a:pPr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2) 온도대는 대·중·소분류 명칭 기준 분류. 신선 계열도 동일 적용되어 간편냉동수산물·냉동과일·냉동채소·냉동닭고기·한우(냉동) 등 재고 269 SKU를 냉동으로 판정.</a:t>
            </a:r>
          </a:p>
          <a:p>
            <a:pPr>
              <a:lnSpc>
                <a:spcPct val="125000"/>
              </a:lnSpc>
            </a:pPr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3) 명칭에 '냉동'이 없는 냉동 취급분(일반수산물 생선·연체류·갑각류·조개살류 등)은 냉장 집계 — 재고 111 SKU·판매 594 낱개(0.3%)로, 전량 이동해도 냉동 비중은 8.0%→8.3%.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07448" y="306000"/>
            <a:ext cx="2877103" cy="43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2. 판매 상품 분석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202734" y="674831"/>
            <a:ext cx="2286531" cy="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0000" y="826031"/>
            <a:ext cx="93600" cy="936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5600" y="782831"/>
            <a:ext cx="943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판매 10,811 SKU · 194,494 낱개 — 상위 5개 팀이 낱개의 68.0%를 차지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160831"/>
            <a:ext cx="466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판매 구성 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1348031"/>
            <a:ext cx="1060054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61600" y="1438031"/>
            <a:ext cx="86400" cy="86400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2000" y="1376831"/>
            <a:ext cx="4500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냉장은 SKU 24.8%로 낱개의 41.7%를 담당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1585631"/>
            <a:ext cx="462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온도대(존)별 구성 (SKU, 낱개) -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0000" y="1758431"/>
          <a:ext cx="4661998" cy="102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125"/>
                <a:gridCol w="946968"/>
                <a:gridCol w="764859"/>
                <a:gridCol w="1201921"/>
                <a:gridCol w="874125"/>
              </a:tblGrid>
              <a:tr h="223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온도대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판매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 (eaches)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상온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7,284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67.4%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97,752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50.3%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냉장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2,680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24.8%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81,150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41.7%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냉동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847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7.8%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15,592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10,811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194,494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6000" y="2932031"/>
            <a:ext cx="462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식품 / 비식품 구성 (SKU, 낱개) -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0000" y="3090431"/>
          <a:ext cx="4661998" cy="82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125"/>
                <a:gridCol w="946968"/>
                <a:gridCol w="764859"/>
                <a:gridCol w="1201921"/>
                <a:gridCol w="874125"/>
              </a:tblGrid>
              <a:tr h="223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판매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 (eaches)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식품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8,322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77.0%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182,027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비식품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2,489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23.0%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12,467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6.4%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10,811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194,494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76000" y="4062431"/>
            <a:ext cx="462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재고 대비 판매 전환 및 회전 (재고 1 SKU당 판매 낱개) -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0000" y="4220831"/>
          <a:ext cx="4661997" cy="103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2015"/>
                <a:gridCol w="837703"/>
                <a:gridCol w="801281"/>
                <a:gridCol w="692015"/>
                <a:gridCol w="983390"/>
                <a:gridCol w="655593"/>
              </a:tblGrid>
              <a:tr h="230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온도대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재고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판매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전환율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SKU당 낱개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상온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20,927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7,284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34.8%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97,752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13.4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냉장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3,399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2,680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78.8%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81,150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30.3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냉동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1,430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847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59.2%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15,592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18.4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25,756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10,811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194,494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18.0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540000" y="5401631"/>
            <a:ext cx="4662000" cy="827999"/>
          </a:xfrm>
          <a:prstGeom prst="rect">
            <a:avLst/>
          </a:prstGeom>
          <a:solidFill>
            <a:srgbClr val="FFFFFF"/>
          </a:solidFill>
          <a:ln w="15875">
            <a:solidFill>
              <a:srgbClr val="C30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재고 구성과 판매 구성의 괴리</a:t>
            </a:r>
          </a:p>
          <a:p>
            <a:pPr algn="l"/>
            <a:r>
              <a:rPr sz="10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비식품 : 재고 50.4% → 판매 낱개 6.4%</a:t>
            </a:r>
          </a:p>
          <a:p>
            <a:pPr algn="l"/>
            <a:r>
              <a:rPr sz="10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냉장 : 재고 13.2% → 판매 낱개 41.7%</a:t>
            </a:r>
          </a:p>
          <a:p>
            <a:pPr algn="l"/>
            <a:r>
              <a:rPr sz="10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재고 구성비만으로는 처리 낱개를 가늠할 수 없음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90000" y="1160831"/>
            <a:ext cx="466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팀별 판매 현황 】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90000" y="1348031"/>
            <a:ext cx="1395990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511600" y="1438031"/>
            <a:ext cx="86400" cy="86400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52000" y="1376831"/>
            <a:ext cx="4500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상위 5개 팀이 낱개의 68.0% 차지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6000" y="1585631"/>
            <a:ext cx="462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전체 18개 팀 (판매 SKU, 낱개, SKU당 낱개) -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90000" y="1758431"/>
          <a:ext cx="4661997" cy="336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0274"/>
                <a:gridCol w="818519"/>
                <a:gridCol w="925282"/>
                <a:gridCol w="676167"/>
                <a:gridCol w="711755"/>
              </a:tblGrid>
              <a:tr h="223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판매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 (eaches)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SKU당 낱개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냉장식품팀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1,394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34,325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24.6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조미대용식품팀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2,184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34,104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17.5%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15.6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기호식품팀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1,664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28,529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14.7%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17.1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음료주류팀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672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18,321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9.4%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27.3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곡물계란팀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17,052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8.8%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39.2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냉동식품팀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805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15,510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8.0%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19.3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채소팀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356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12,881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36.2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일상용품팀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1,188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8,499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4.4%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과일팀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8,407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4.3%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48.9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축산팀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7,943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4.1%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31.3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수산팀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343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4,396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2.3%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12.8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키친팀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2,234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1.1%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4.3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라이프스타일팀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731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0.4%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델리개발팀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0.2%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7.8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베이커리팀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0.2%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7.3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베드&amp;배스팀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348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0.2%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언더잡화스포츠팀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Toysrus팀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108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225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10,811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194,494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18.0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40000" y="6786000"/>
            <a:ext cx="9612000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※ 판매 기간 2026-07-14 ~ 07-27(14일). 낱개(eaches)는 매출수량 기준이며 주문 건수·오더라인 수가 아님. 팀 구분은 매출 데이터의 팀-대분류 체계(1:1)를 재고·그린리스트에 동일 적용.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18309" y="306000"/>
            <a:ext cx="4855380" cy="43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3. OGRP 조회 장표의 정합성 검증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54248" y="674831"/>
            <a:ext cx="4383503" cy="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0000" y="826031"/>
            <a:ext cx="93600" cy="936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5600" y="782831"/>
            <a:ext cx="943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온도대 단위까지 쪼개 대조한 결과 SKU·비율은 1%p 이내로 정합, 낱개 총량은 4.9%가 미설명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160831"/>
            <a:ext cx="961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검증 절차 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1348031"/>
            <a:ext cx="1060054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61600" y="1438031"/>
            <a:ext cx="86400" cy="86400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2000" y="1376831"/>
            <a:ext cx="9450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매출 단품 데이터를 대시보드와 동일 모수로 정렬한 뒤 대조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1585631"/>
            <a:ext cx="957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대조 4단계 -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1758431"/>
            <a:ext cx="2214000" cy="6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0000" y="1758431"/>
            <a:ext cx="2214000" cy="2376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냉동 제외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2060831"/>
            <a:ext cx="1998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대시보드는 상온·냉장 2개 존만 제공. 냉동 847 SKU 제외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800800" y="2100431"/>
            <a:ext cx="158400" cy="108000"/>
          </a:xfrm>
          <a:prstGeom prst="rightArrow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06000" y="1758431"/>
            <a:ext cx="2214000" cy="6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06000" y="1758431"/>
            <a:ext cx="2214000" cy="2376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상품코드 결합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4000" y="2060831"/>
            <a:ext cx="1998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매출 단품 · 그린리스트 · 재고를 상품코드 기준으로 결합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266800" y="2100431"/>
            <a:ext cx="158400" cy="108000"/>
          </a:xfrm>
          <a:prstGeom prst="rightArrow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72000" y="1758431"/>
            <a:ext cx="2214000" cy="6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72000" y="1758431"/>
            <a:ext cx="2214000" cy="2376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온도대 분류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0000" y="2060831"/>
            <a:ext cx="1998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대분류 명칭 기준으로 상온 · 냉장 판정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732800" y="2100431"/>
            <a:ext cx="158400" cy="108000"/>
          </a:xfrm>
          <a:prstGeom prst="rightArrow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38000" y="1758431"/>
            <a:ext cx="2214000" cy="6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38000" y="1758431"/>
            <a:ext cx="2214000" cy="2376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존 단위 대조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000" y="2060831"/>
            <a:ext cx="1998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SKU 수 · 낱개 · Velocity를 대시보드 존별 수치와 비교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" y="2550431"/>
            <a:ext cx="961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온도대별 대조 결과 】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0000" y="2737631"/>
            <a:ext cx="1688109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61600" y="2827631"/>
            <a:ext cx="86400" cy="86400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2000" y="2766431"/>
            <a:ext cx="9450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존 단위 대조 시 SKU 차이 0.6~1.0%, 상온 Velocity 차이 0.20%p로 정합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00" y="2975231"/>
            <a:ext cx="957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상온 · 냉장 존별 실측 vs 대시보드 -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40000" y="3148031"/>
          <a:ext cx="9611995" cy="97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78769"/>
                <a:gridCol w="933959"/>
                <a:gridCol w="933959"/>
                <a:gridCol w="622639"/>
                <a:gridCol w="972874"/>
                <a:gridCol w="1011789"/>
                <a:gridCol w="856129"/>
                <a:gridCol w="1050704"/>
                <a:gridCol w="1050704"/>
                <a:gridCol w="700469"/>
              </a:tblGrid>
              <a:tr h="331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온도대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실측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그린리스트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픽 시도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차이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실측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Velocity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Velocity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차이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실측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그린리스트 낱개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역산 낱개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차이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상온 (Ambient)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1,198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1,191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+7</a:t>
                      </a:r>
                    </a:p>
                  </a:txBody>
                  <a:tcPr marL="43200" marR="43200" marT="10800" marB="1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50.08%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50.28%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0.20%p</a:t>
                      </a:r>
                    </a:p>
                  </a:txBody>
                  <a:tcPr marL="43200" marR="43200" marT="10800" marB="1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45,457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44,128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냉장 (Chill)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837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829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+8</a:t>
                      </a:r>
                    </a:p>
                  </a:txBody>
                  <a:tcPr marL="43200" marR="43200" marT="10800" marB="1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52.40%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54.82%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2.42%p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39,484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38,151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3.5%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 (Site)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2,035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2,020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+15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51.13%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52.29%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1.16%p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84,941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82,279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3.2%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40000" y="4289231"/>
            <a:ext cx="466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낱개 대사 】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0000" y="4476431"/>
            <a:ext cx="1060054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61600" y="4566431"/>
            <a:ext cx="86400" cy="86400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2000" y="4505231"/>
            <a:ext cx="4500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냉동 8.0% 제외 후에도 낱개 4.9%가 미설명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00" y="4714031"/>
            <a:ext cx="462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판매 낱개 → 대시보드 모수 (13일 기준) -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540000" y="4886831"/>
          <a:ext cx="4662000" cy="151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000"/>
                <a:gridCol w="936000"/>
                <a:gridCol w="1260000"/>
                <a:gridCol w="666000"/>
              </a:tblGrid>
              <a:tr h="21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계산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대비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전체 판매 낱개 (14일)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194,494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 단품 합계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13일 환산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180,602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× 13 ÷ 14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냉동 제외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− 14,478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847 SKU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− 8.0%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④ 냉장·상온 낱개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166,124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− ③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⑤ 대시보드 Throughput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157,224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 표기값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87.1%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⑥ 설명되지 않는 차이</a:t>
                      </a:r>
                    </a:p>
                  </a:txBody>
                  <a:tcPr marL="43200" marR="43200" marT="10800" marB="1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8,900</a:t>
                      </a:r>
                    </a:p>
                  </a:txBody>
                  <a:tcPr marL="43200" marR="43200" marT="10800" marB="1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④ − ⑤</a:t>
                      </a:r>
                    </a:p>
                  </a:txBody>
                  <a:tcPr marL="43200" marR="43200" marT="10800" marB="1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4.9%</a:t>
                      </a:r>
                    </a:p>
                  </a:txBody>
                  <a:tcPr marL="43200" marR="43200" marT="10800" marB="10800" anchor="ctr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5490000" y="4289231"/>
            <a:ext cx="466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지표별 대조 】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90000" y="4476431"/>
            <a:ext cx="1206113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5511600" y="4566431"/>
            <a:ext cx="86400" cy="86400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52000" y="4505231"/>
            <a:ext cx="4500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비율 · SKU 지표는 1%p 이내 일치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26000" y="4714031"/>
            <a:ext cx="462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실측 vs 대시보드 표기값 -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5490000" y="4886831"/>
          <a:ext cx="4661997" cy="95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1009"/>
                <a:gridCol w="995766"/>
                <a:gridCol w="995766"/>
                <a:gridCol w="769456"/>
              </a:tblGrid>
              <a:tr h="21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항목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실측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차이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Greenlist Velocity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51.13%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52.29%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1.16%p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그린리스트 낱개(13일)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84,941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82,261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2,680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3.2%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픽 시도 SKU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2,035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2,016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19개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Rectangle 43"/>
          <p:cNvSpPr/>
          <p:nvPr/>
        </p:nvSpPr>
        <p:spPr>
          <a:xfrm>
            <a:off x="5490000" y="5945231"/>
            <a:ext cx="4662000" cy="7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30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잔여 8,900 낱개(4.9%)의 후보</a:t>
            </a:r>
          </a:p>
          <a:p>
            <a:pPr algn="l"/>
            <a:r>
              <a:rPr sz="9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 기간 환산 : </a:t>
            </a:r>
            <a:r>
              <a:rPr sz="8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매출 자료가 14일 합계만 제공 — 13일 분리 불가</a:t>
            </a:r>
          </a:p>
          <a:p>
            <a:pPr algn="l"/>
            <a:r>
              <a:rPr sz="9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 그리드 외 : </a:t>
            </a:r>
            <a:r>
              <a:rPr sz="8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즉석조리·델리 계열의 처리 경로 확인 필요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0000" y="6552000"/>
            <a:ext cx="9612000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1) 대시보드 역산 낱개 = 존별 OGRP Picks ÷ 존별 Greenlist Utilization (상온 23,670÷53.64%, 냉장 13,372÷35.05%).</a:t>
            </a:r>
          </a:p>
          <a:p>
            <a:pPr>
              <a:lnSpc>
                <a:spcPct val="125000"/>
              </a:lnSpc>
            </a:pPr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2) 매출 7/14~7/27(14일) · 대시보드 7/14~7/26(13일). 매출 자료는 기간 합계만 제공되어 일자별 분리가 불가하므로 13/14 균등 환산 — 요일 편차만큼 오차가 남음.</a:t>
            </a:r>
          </a:p>
          <a:p>
            <a:pPr>
              <a:lnSpc>
                <a:spcPct val="125000"/>
              </a:lnSpc>
            </a:pPr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3) 픽 시도 SKU 차이 19개 = 판매 그린리스트 2,035개의 0.9%(= 2,016개·99.1%가 이미 픽 시도됨). Velocity는 냉동 포함 시 47.03%로 5.26%p 이탈.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21694" y="306000"/>
            <a:ext cx="4648611" cy="43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4-1. 그린리스트 팀별 등재 현황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263835" y="674831"/>
            <a:ext cx="4164329" cy="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0000" y="826031"/>
            <a:ext cx="93600" cy="936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5600" y="782831"/>
            <a:ext cx="943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2,903 SKU가 18개 팀에 배치 — 등재율은 냉장식품 30.3%에서 베드&amp;배스 1.0%까지 30배 편차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160831"/>
            <a:ext cx="466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팀별 등재 현황 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1348031"/>
            <a:ext cx="1395990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61600" y="1438031"/>
            <a:ext cx="86400" cy="86400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2000" y="1376831"/>
            <a:ext cx="4500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팀 간 등재율 편차 최대 30배 (30.3% ~ 1.0%)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1585631"/>
            <a:ext cx="462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전체 18개 팀 (재고·등재 SKU, 등재율, 등재 낱개) -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0000" y="1758431"/>
          <a:ext cx="4661997" cy="336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1123"/>
                <a:gridCol w="734424"/>
                <a:gridCol w="670561"/>
                <a:gridCol w="606698"/>
                <a:gridCol w="734424"/>
                <a:gridCol w="574767"/>
              </a:tblGrid>
              <a:tr h="223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재고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등재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등재율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등재 낱개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 비중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냉장식품팀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1,722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30.3%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20,966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61.1%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조미대용식품팀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3,584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537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15.0%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20,454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60.0%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기호식품팀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3,355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17.9%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17,242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60.4%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음료주류팀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18.1%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8,806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48.1%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곡물계란팀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585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7,743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45.4%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냉동식품팀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1,310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채소팀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7,939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61.6%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일상용품팀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3,131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3.6%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666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7.8%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과일팀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19.9%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1,973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23.5%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축산팀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20.1%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3,888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48.9%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수산팀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589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7.1%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1,197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27.2%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키친팀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2,120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2.2%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15.6%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라이프스타일팀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2,213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178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8.1%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델리개발팀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17.1%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34.5%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베이커리팀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4.5%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베드&amp;배스팀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987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언더잡화스포츠팀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2,469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7.7%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Toysrus팀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1,669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9.4%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12.9%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5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25,756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2,810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10.9%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91,475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0000" y="5290031"/>
            <a:ext cx="4662000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30C3E"/>
                </a:solidFill>
                <a:latin typeface="맑은 고딕"/>
                <a:ea typeface="맑은 고딕"/>
                <a:cs typeface="맑은 고딕"/>
              </a:rPr>
              <a:t>냉동식품팀은 재고 1,310 SKU · 판매 낱개 15,510에도 등재 0건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0000" y="1160831"/>
            <a:ext cx="466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팀별 등재율 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90000" y="1348031"/>
            <a:ext cx="1206113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511600" y="1438031"/>
            <a:ext cx="86400" cy="86400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52000" y="1376831"/>
            <a:ext cx="4500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식품 팀이 상위, 비식품 팀이 하위에 집중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6000" y="1585631"/>
            <a:ext cx="462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팀별 그린리스트 등재율 (%) -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490000" y="1758431"/>
          <a:ext cx="4662000" cy="378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Rectangle 18"/>
          <p:cNvSpPr/>
          <p:nvPr/>
        </p:nvSpPr>
        <p:spPr>
          <a:xfrm>
            <a:off x="5490000" y="5682431"/>
            <a:ext cx="4662000" cy="93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30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l"/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등재율 구간별 팀 분포</a:t>
            </a:r>
          </a:p>
          <a:p>
            <a:pPr algn="l"/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20% 이상 (4개 팀) : 냉장식품 · 채소 · 축산 · 곡물계란</a:t>
            </a:r>
          </a:p>
          <a:p>
            <a:pPr algn="l"/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10~20% (7개 팀) : 기호식품 · 음료주류 · 조미대용식품 등</a:t>
            </a:r>
          </a:p>
          <a:p>
            <a:pPr algn="l"/>
            <a:r>
              <a:rPr sz="950" b="0">
                <a:solidFill>
                  <a:srgbClr val="C30C3E"/>
                </a:solidFill>
                <a:latin typeface="맑은 고딕"/>
                <a:ea typeface="맑은 고딕"/>
                <a:cs typeface="맑은 고딕"/>
              </a:rPr>
              <a:t>5% 미만 (5개 팀) : 일상용품 · 언더잡화스포츠 · 키친 · 베드&amp;배스 · 냉동식품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" y="6822000"/>
            <a:ext cx="9612000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※ 등재 낱개 = 해당 팀 그린리스트 SKU의 판매 낱개, 낱개 비중 = 해당 팀 판매 낱개 대비. 팀 구분은 매출 데이터의 팀-대분류 체계(1:1)를 재고·그린리스트에 동일 적용.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9033" y="306000"/>
            <a:ext cx="5933932" cy="43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4-2. 판매 기여 대비 그린리스트 등재 수준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82615" y="674831"/>
            <a:ext cx="5526769" cy="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0000" y="826031"/>
            <a:ext cx="93600" cy="936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5600" y="782831"/>
            <a:ext cx="943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18개 팀을 판정 기준으로 전수 분류하면 확대 검토 대상은 3개 팀 · 낱개 41.6%로 좁혀짐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160831"/>
            <a:ext cx="961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낱개 기여 대비 등재율 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1348031"/>
            <a:ext cx="1877986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61600" y="1438031"/>
            <a:ext cx="86400" cy="86400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2000" y="1376831"/>
            <a:ext cx="9450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낱개 기여가 큰 상위 3개 팀 중 조미대용식품·기호식품은 등재율이 평균 이하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1585631"/>
            <a:ext cx="957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팀별 판매 낱개 비중(검정) vs 그린리스트 등재율(회색), 낱개 순 -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40000" y="1758431"/>
          <a:ext cx="9612000" cy="219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0000" y="4116431"/>
            <a:ext cx="961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등재 확대 여지 판정 】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0000" y="4303631"/>
            <a:ext cx="1731926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61600" y="4393631"/>
            <a:ext cx="86400" cy="86400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2000" y="4332431"/>
            <a:ext cx="9450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낱개 기여 · 등재율 · 상품 특성 3축으로 분류 시 검토 대상은 A 유형 3개 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" y="4541231"/>
            <a:ext cx="957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- 18개 팀 전수 분류 -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0000" y="4714031"/>
          <a:ext cx="9611999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/>
                <a:gridCol w="1188000"/>
                <a:gridCol w="2015999"/>
                <a:gridCol w="468000"/>
                <a:gridCol w="684000"/>
                <a:gridCol w="4896000"/>
              </a:tblGrid>
              <a:tr h="208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 수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 비중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팀 (낱개 비중 / 등재율, %)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237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</a:t>
                      </a:r>
                    </a:p>
                  </a:txBody>
                  <a:tcPr marL="43200" marR="43200" marT="10800" marB="10800" anchor="ctr">
                    <a:solidFill>
                      <a:srgbClr val="C30C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확대 여지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 5% 이상 · 등재율 20% 미만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조미대용식품 17.5 / 15.0 · 기호식품 14.7 / 17.9 · 음료주류 9.4 / 18.1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경계 구간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 2~5% · 등재율 편차 큼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15.1%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일상용품 4.4 / 3.6 · 과일 4.3 / 19.9 · 축산 4.1 / 20.1 · 수산 2.3 / 7.1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37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</a:t>
                      </a:r>
                    </a:p>
                  </a:txBody>
                  <a:tcPr marL="43200" marR="43200" marT="10800" marB="10800" anchor="ctr"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이미 높은 수준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 5% 이상 · 등재율 20% 이상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24.2%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냉장식품 17.6 / 30.3 · 채소 6.6 / 29.0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</a:t>
                      </a:r>
                    </a:p>
                  </a:txBody>
                  <a:tcPr marL="43200" marR="43200" marT="10800" marB="10800" anchor="ctr"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특성상 제약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파손·부정형 — 낮은 등재율이 정상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8.8%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곡물계란 8.8 / 20.0  (계란 30입 등 파손 우려)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37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</a:t>
                      </a:r>
                    </a:p>
                  </a:txBody>
                  <a:tcPr marL="43200" marR="43200" marT="10800" marB="10800" anchor="ctr"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온도대 미대응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OGRP가 냉동을 다루지 않음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냉동식품 8.0 / 0.0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</a:t>
                      </a:r>
                    </a:p>
                  </a:txBody>
                  <a:tcPr marL="43200" marR="43200" marT="10800" marB="10800" anchor="ctr"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기여 미미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 2% 미만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2.3%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키친 · 라이프스타일 · 델리개발 · 베이커리 · 베드&amp;배스 · 언더잡화스포츠 · Toysrus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94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0000" y="6696000"/>
            <a:ext cx="9612000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※ 낱개 비중은 전체 판매 낱개 194,494 대비, 등재율은 해당 팀 재고 SKU 대비. 팀 구분은 매출 데이터의 팀-대분류 체계(1:1)를 재고·그린리스트에 동일 적용.</a:t>
            </a:r>
          </a:p>
          <a:p>
            <a:pPr>
              <a:lnSpc>
                <a:spcPct val="125000"/>
              </a:lnSpc>
            </a:pPr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※ 등재 확대는 규격·중량뿐 아니라 포장 재질·파손 위험까지 검토가 필요하며, 피킹 성공률이 확인된 품목부터 단계적으로 추진.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655" y="306000"/>
            <a:ext cx="5570689" cy="43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4-3. 상품 속성별 그린리스트 등재 경향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75134" y="674831"/>
            <a:ext cx="5141731" cy="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0000" y="826031"/>
            <a:ext cx="93600" cy="936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5600" y="782831"/>
            <a:ext cx="943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규격이 커질수록 등재율이 낮아지며 2kg 이상은 0건 — 회전 순위와는 뚜렷한 정비례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160831"/>
            <a:ext cx="466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규격별 등재 경향 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1348031"/>
            <a:ext cx="1542049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61600" y="1438031"/>
            <a:ext cx="86400" cy="86400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2000" y="1376831"/>
            <a:ext cx="4500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규격이 커질수록 등재율 하락, 2kg 이상은 등재 0건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1585631"/>
            <a:ext cx="462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규격 구간별 재고·등재 SKU 및 등재율 (%) -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40000" y="1758431"/>
          <a:ext cx="4662000" cy="230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0000" y="4170431"/>
          <a:ext cx="4661998" cy="133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2059"/>
                <a:gridCol w="1182895"/>
                <a:gridCol w="1113313"/>
                <a:gridCol w="1043731"/>
              </a:tblGrid>
              <a:tr h="21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규격 구간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재고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등재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등재율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8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~200g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4,701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948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20.2%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200~500g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4,224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15.3%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8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500g~1kg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1,802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1~2kg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14.3%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8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2kg 이상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356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0.0%</a:t>
                      </a:r>
                    </a:p>
                  </a:txBody>
                  <a:tcPr marL="43200" marR="43200" marT="10800" marB="10800" anchor="ctr">
                    <a:solidFill>
                      <a:srgbClr val="DEEBF7"/>
                    </a:solidFill>
                  </a:tcPr>
                </a:tc>
              </a:tr>
              <a:tr h="18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11,732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1,897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16.2%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0000" y="5635631"/>
            <a:ext cx="4662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2kg 이상 356 SKU는 전량 미등재 — 로봇 그립과 토트 적재 한계로 추정되며 실물 확인 필요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90000" y="1160831"/>
            <a:ext cx="466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회전 순위별 등재 경향 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90000" y="1348031"/>
            <a:ext cx="1877986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511600" y="1438031"/>
            <a:ext cx="86400" cy="86400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52000" y="1376831"/>
            <a:ext cx="4500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고회전 위주 선정 확인 (상위 500위 60~70%)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6000" y="1585631"/>
            <a:ext cx="462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판매 낱개 순위 구간별 등재율 (%) -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5490000" y="1758431"/>
          <a:ext cx="4662000" cy="2304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90000" y="4170431"/>
          <a:ext cx="4661998" cy="152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2059"/>
                <a:gridCol w="1182895"/>
                <a:gridCol w="1113313"/>
                <a:gridCol w="1043731"/>
              </a:tblGrid>
              <a:tr h="21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판매 낱개 순위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판매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등재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등재율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8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1~100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61.0%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101~500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69.8%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8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501~1,000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317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63.4%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1,001~2,000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1,000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46.1%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8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2,001~5,000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3,000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17.2%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5,001~9,964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4,964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8.1%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8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9,964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2,035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20.4%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540000" y="5886000"/>
            <a:ext cx="4680000" cy="6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온도대 구성</a:t>
            </a:r>
          </a:p>
          <a:p>
            <a:pPr algn="l"/>
            <a:r>
              <a:rPr sz="10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상온 1,970 (67.9%) · 냉장 933 (32.1%) · 냉동 0 (0.0%)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72000" y="5886000"/>
            <a:ext cx="4680000" cy="6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식품 구분</a:t>
            </a:r>
          </a:p>
          <a:p>
            <a:pPr algn="l"/>
            <a:r>
              <a:rPr sz="10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식품 2,295 (79.1%) · 비식품 608 (20.9%)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6696000"/>
            <a:ext cx="9612000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1) 규격은 재고 파일의 규격 필드 중 단일 단위(g·kg·ml·L) 표기 11,732 SKU만 집계(냉장·상온 기준).</a:t>
            </a:r>
          </a:p>
          <a:p>
            <a:pPr>
              <a:lnSpc>
                <a:spcPct val="125000"/>
              </a:lnSpc>
            </a:pPr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2) 판매 회전 순위는 냉장·상온 판매 SKU 9,964개를 낱개 순으로 정렬한 구간.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54161" y="306000"/>
            <a:ext cx="7783676" cy="43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4-4. 유휴 등재 진단 — 등재되었으나 팔리지 않은 868 SKU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602251" y="674831"/>
            <a:ext cx="7487497" cy="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0000" y="826031"/>
            <a:ext cx="93600" cy="936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5600" y="782831"/>
            <a:ext cx="943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유휴의 89%가 상온이며, 비식품 팀은 등재분의 8할 이상이 기간 내 무판매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160831"/>
            <a:ext cx="2254500" cy="9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30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160831"/>
            <a:ext cx="2254500" cy="237600"/>
          </a:xfrm>
          <a:prstGeom prst="rect">
            <a:avLst/>
          </a:prstGeom>
          <a:solidFill>
            <a:srgbClr val="C30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유휴 등재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466831"/>
            <a:ext cx="22545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C30C3E"/>
                </a:solidFill>
                <a:latin typeface="맑은 고딕"/>
                <a:ea typeface="맑은 고딕"/>
                <a:cs typeface="맑은 고딕"/>
              </a:rPr>
              <a:t>868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1862831"/>
            <a:ext cx="20385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등재 2,903개의 29.9%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92500" y="1160831"/>
            <a:ext cx="2254500" cy="9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92500" y="1160831"/>
            <a:ext cx="2254500" cy="2376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재고 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2500" y="1466831"/>
            <a:ext cx="22545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856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0500" y="1862831"/>
            <a:ext cx="20385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유휴의 98.6% — 물건은 있으나 안 팔림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45000" y="1160831"/>
            <a:ext cx="2254500" cy="9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45000" y="1160831"/>
            <a:ext cx="2254500" cy="2376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재고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5000" y="1466831"/>
            <a:ext cx="22545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3000" y="1862831"/>
            <a:ext cx="20385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등재만 되고 재고 미보유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97500" y="1160831"/>
            <a:ext cx="2254500" cy="9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97500" y="1160831"/>
            <a:ext cx="2254500" cy="2376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상온 비중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7500" y="1466831"/>
            <a:ext cx="22545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88.9%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5500" y="1862831"/>
            <a:ext cx="20385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상온 772 · 냉장 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2312831"/>
            <a:ext cx="466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팀별 유휴 등재 현황 】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0000" y="2500031"/>
            <a:ext cx="1731926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61600" y="2590031"/>
            <a:ext cx="86400" cy="86400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2000" y="2528831"/>
            <a:ext cx="4500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비식품 팀은 등재분의 8할 이상 무판매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2737631"/>
            <a:ext cx="462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유휴 SKU 상위 9개 팀 (등재·유휴 SKU, 유휴율) -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40000" y="2910431"/>
          <a:ext cx="4661996" cy="224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4499"/>
                <a:gridCol w="1100749"/>
                <a:gridCol w="1100749"/>
                <a:gridCol w="1035999"/>
              </a:tblGrid>
              <a:tr h="230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등재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유휴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유휴율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기호식품팀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612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32.2%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라이프스타일팀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178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148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83.1%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Toysrus팀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92.5%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조미대용식품팀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546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17.6%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언더잡화스포츠팀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81.0%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일상용품팀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63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55.3%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냉장식품팀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음료주류팀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12.8%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키친팀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42.3%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2,903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868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29.9%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40000" y="5282831"/>
            <a:ext cx="4662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30C3E"/>
                </a:solidFill>
                <a:latin typeface="맑은 고딕"/>
                <a:ea typeface="맑은 고딕"/>
                <a:cs typeface="맑은 고딕"/>
              </a:rPr>
              <a:t>Toysrus 92.5% · 라이프스타일 83.1% · 언더잡화스포츠 81.0% — 비식품 등재분은 사실상 가동되지 않음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90000" y="2312831"/>
            <a:ext cx="466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팀별 유휴율 】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90000" y="2500031"/>
            <a:ext cx="1206113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5511600" y="2590031"/>
            <a:ext cx="86400" cy="86400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52000" y="2528831"/>
            <a:ext cx="4500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유휴율 상위는 전량 비식품 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26000" y="2737631"/>
            <a:ext cx="462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팀별 유휴율 (%) -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5490000" y="2910431"/>
          <a:ext cx="4662000" cy="18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5526000" y="4879631"/>
            <a:ext cx="462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유휴 등재의 대분류 구성 (상위 6) -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490000" y="5038031"/>
          <a:ext cx="4661999" cy="133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2631"/>
                <a:gridCol w="1799368"/>
              </a:tblGrid>
              <a:tr h="21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대분류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유휴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8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PET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113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초콜릿/캔디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66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8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게임/피규어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과자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56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8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조미식품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퍼스널케어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5490000" y="6478031"/>
            <a:ext cx="4662000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PET · 게임/피규어 등 비식품 대분류가 상위 점유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0" y="5976000"/>
            <a:ext cx="4662000" cy="70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30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l"/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유휴 868개 중 856개(98.6%)는 재고를 보유</a:t>
            </a:r>
          </a:p>
          <a:p>
            <a:pPr algn="l"/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식품 팀은 유휴율이 낮아 등재가 실제 가동으로 이어짐 (냉장식품 9.6% · 음료주류 12.8%)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000" y="6750000"/>
            <a:ext cx="9612000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※ 유휴 = 그린리스트에 등재되어 있으나 2026-07-14~07-27 기간 내 매출이 발생하지 않은 SKU. 재고 보유 여부는 7/28 재고 기준.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6810" y="306000"/>
            <a:ext cx="7638379" cy="43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4-5. 미등재 낱개 진단 — 로봇이 손대지 못한 87,427 낱개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679258" y="674831"/>
            <a:ext cx="7333483" cy="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0000" y="826031"/>
            <a:ext cx="93600" cy="936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5600" y="782831"/>
            <a:ext cx="943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조미대용식품 · 냉장식품 · 기호식품 3개 팀이 미등재 낱개의 43.8%를 차지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160831"/>
            <a:ext cx="466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팀별 미등재 낱개 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1348031"/>
            <a:ext cx="1542049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61600" y="1438031"/>
            <a:ext cx="86400" cy="86400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2000" y="1376831"/>
            <a:ext cx="4500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상위 3개 팀이 미등재 낱개의 43.8% 차지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1585631"/>
            <a:ext cx="462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상위 9개 팀 (미등재 SKU, 낱개, 구성비) -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0000" y="1758431"/>
          <a:ext cx="4662000" cy="224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4500"/>
                <a:gridCol w="1036000"/>
                <a:gridCol w="1100750"/>
                <a:gridCol w="1100750"/>
              </a:tblGrid>
              <a:tr h="230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미등재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미등재 낱개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조미대용식품팀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1,734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13,650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냉장식품팀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905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13,359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15.3%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기호식품팀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1,249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11,287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12.9%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음료주류팀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9,515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10.9%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곡물계란팀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9,309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일상용품팀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1,137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7,833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9.0%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과일팀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5,832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6.7%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채소팀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4,819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5.5%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축산팀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3,263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3.7%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7,929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87,427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6000" y="4156031"/>
            <a:ext cx="462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규격별 미등재 낱개 (SKU, 낱개, 구성비) -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0000" y="4314431"/>
          <a:ext cx="4662000" cy="138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4500"/>
                <a:gridCol w="1036000"/>
                <a:gridCol w="1100750"/>
                <a:gridCol w="1100750"/>
              </a:tblGrid>
              <a:tr h="223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규격 구간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미등재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미등재 낱개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94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~200g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1,756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13,932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15.9%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94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200~500g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1,860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15,952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18.2%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94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500g~1kg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811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8,927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10.2%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94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1~2kg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8,696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9.9%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94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2kg 이상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2,179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94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규격 미상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3,038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37,741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43.2%</a:t>
                      </a:r>
                    </a:p>
                  </a:txBody>
                  <a:tcPr marL="43200" marR="43200" marT="10800" marB="10800" anchor="ctr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0000" y="5812031"/>
            <a:ext cx="4662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규격 미상이 43.2% — 단일 단위로 표기되지 않는 묶음·복합 규격 상품이 대부분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90000" y="1160831"/>
            <a:ext cx="466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미등재 상위 SKU 】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90000" y="1348031"/>
            <a:ext cx="1521601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511600" y="1438031"/>
            <a:ext cx="86400" cy="86400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52000" y="1376831"/>
            <a:ext cx="4500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파손 우려·묶음 형태 상품이 상위 점유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6000" y="1585631"/>
            <a:ext cx="462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미등재 낱개 상위 12 SKU -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90000" y="1758431"/>
          <a:ext cx="4661998" cy="290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08315"/>
                <a:gridCol w="899684"/>
                <a:gridCol w="940578"/>
                <a:gridCol w="613421"/>
              </a:tblGrid>
              <a:tr h="223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상품명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규격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행복생생란(대란, 30입) (1.56KG)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1,841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곡물계란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1.6kg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오늘좋은 미네랄워터 (2L*6입)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1,793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음료주류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행복생생란 (특란, 30입) (1.8KG)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1,615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곡물계란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1.8kg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오늘좋은 1등급우유 (900ML*2)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1,581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냉장식품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[농할할인가 16,920원] 통큰 수박 (9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1,391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과일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오늘좋은 물티슈 (120매)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699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일상용품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국내산 돼지 삼겹살 구이용 (냉장) (600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660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축산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600g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신선란 미국산(30입) (1.7KG)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곡물계란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1.7kg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제주 삼다수 그린 (2L*6입)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음료주류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[농할할인가 9,520원] 부드러운복숭아 (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456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과일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오늘좋은 미네랄워터 (500ML*20입)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446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음료주류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국내산 돼지 목심 구이용 (냉장) (600G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축산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600g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5490000" y="4786031"/>
            <a:ext cx="4662000" cy="827999"/>
          </a:xfrm>
          <a:prstGeom prst="rect">
            <a:avLst/>
          </a:prstGeom>
          <a:solidFill>
            <a:srgbClr val="FFFFFF"/>
          </a:solidFill>
          <a:ln w="15875">
            <a:solidFill>
              <a:srgbClr val="C30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l"/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상위 12개의 공통점</a:t>
            </a:r>
          </a:p>
          <a:p>
            <a:pPr algn="l"/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계란 30입 3종이 4,006 낱개 — 파손 우려로 미등재가 타당</a:t>
            </a:r>
          </a:p>
          <a:p>
            <a:pPr algn="l"/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생수·우유는 전량 묶음(2L×6 · 900ML×2) 형태</a:t>
            </a:r>
          </a:p>
          <a:p>
            <a:pPr algn="l"/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수박 9KG · 삼겹살 600G 등 중량·부정형 상품 포함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0" y="5976000"/>
            <a:ext cx="4662000" cy="702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l"/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1kg 이상 · 규격 미상 합계 48,616 낱개 (55.6%)</a:t>
            </a:r>
          </a:p>
          <a:p>
            <a:pPr algn="l"/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미등재 낱개의 절반 이상이 대용량 또는 묶음 형태 — 단순 등재 확대로는 접근하기 어려운 구간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6750000"/>
            <a:ext cx="9612000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※ 냉장·상온 기준. 규격은 재고 파일의 규격 필드이며 단일 단위로 표기되지 않은 건은 '규격 미상'으로 분류.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301111" y="306000"/>
            <a:ext cx="4089776" cy="43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4-6. 회전 격차와 종합 진단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560018" y="674831"/>
            <a:ext cx="3571963" cy="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0000" y="826031"/>
            <a:ext cx="93600" cy="936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5600" y="782831"/>
            <a:ext cx="943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판매량이 클수록 등재율이 높아지나, 101 낱개 이상 구간에서도 31.3%는 여전히 미등재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160831"/>
            <a:ext cx="466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판매량 구간별 등재율 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1348031"/>
            <a:ext cx="1834168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61600" y="1438031"/>
            <a:ext cx="86400" cy="86400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2000" y="1376831"/>
            <a:ext cx="4500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회전이 높을수록 등재율 상승 — 기준 타당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1585631"/>
            <a:ext cx="462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SKU당 판매 낱개 구간별 등재율 및 낱개 비중 (%) -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0000" y="1758431"/>
          <a:ext cx="4661994" cy="151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1749"/>
                <a:gridCol w="776999"/>
                <a:gridCol w="776999"/>
                <a:gridCol w="712249"/>
                <a:gridCol w="841749"/>
                <a:gridCol w="712249"/>
              </a:tblGrid>
              <a:tr h="259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SKU당 판매 낱개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판매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등재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등재율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 비중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1~5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5,491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8.3%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12,084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6.8%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6~20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2,726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20.1%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29,941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16.7%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21~50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1,007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53.8%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32,186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51~100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256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63.8%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28,217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15.8%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101 이상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339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233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68.7%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76,474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42.7%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9,964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2,035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20.4%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178,902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40000" y="3396431"/>
          <a:ext cx="4662000" cy="18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0000" y="5376431"/>
            <a:ext cx="4662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30C3E"/>
                </a:solidFill>
                <a:latin typeface="맑은 고딕"/>
                <a:ea typeface="맑은 고딕"/>
                <a:cs typeface="맑은 고딕"/>
              </a:rPr>
              <a:t>101 낱개 이상 339 SKU가 낱개의 42.7%를 차지하나 등재율은 68.7% — 106 SKU가 미등재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90000" y="1160831"/>
            <a:ext cx="466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등재 · 미등재 회전 격차 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90000" y="1348031"/>
            <a:ext cx="1965621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511600" y="1438031"/>
            <a:ext cx="86400" cy="86400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52000" y="1376831"/>
            <a:ext cx="4500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등재 SKU 중앙값이 미등재의 7.0배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6000" y="1585631"/>
            <a:ext cx="462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판매량 분포 비교 (낱개) -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90000" y="1758431"/>
          <a:ext cx="4661999" cy="113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5052"/>
                <a:gridCol w="1226842"/>
                <a:gridCol w="1226842"/>
                <a:gridCol w="1063263"/>
              </a:tblGrid>
              <a:tr h="237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등재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미등재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격차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중앙값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 낱개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 낱개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7.0배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상위 25%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49 낱개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 낱개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5.4배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상위 10%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107 낱개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 낱개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5.6배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45.0 낱개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11.0 낱개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4.1배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526000" y="3058031"/>
            <a:ext cx="462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종합 진단 (4-1~4-6 확인 사항) -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90000" y="3216431"/>
            <a:ext cx="198000" cy="1980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0" y="3209231"/>
            <a:ext cx="4373999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선정 기준은 타당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000" y="3432431"/>
            <a:ext cx="437399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고회전 구간 등재율 68.7%, 저회전 8.3% — 회전 순으로 정확히 배치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90000" y="3727631"/>
            <a:ext cx="198000" cy="1980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0" y="3720431"/>
            <a:ext cx="4373999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유휴가 3할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0" y="3943631"/>
            <a:ext cx="437399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868개(29.9%)가 미판매, 이 중 856개는 재고 보유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90000" y="4238831"/>
            <a:ext cx="198000" cy="1980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0" y="4231631"/>
            <a:ext cx="4373999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사각지대는 규격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000" y="4454831"/>
            <a:ext cx="437399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2kg 이상 등재 0건, 미등재 낱개의 43.2%가 규격 미상(묶음·복합)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90000" y="4750031"/>
            <a:ext cx="198000" cy="1980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000" y="4742831"/>
            <a:ext cx="4373999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고회전 잔여 존재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000" y="4966031"/>
            <a:ext cx="437399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101 낱개 이상 구간에도 106 SKU가 미등재 — 파손 위험 품목 제외 후 검토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90000" y="5315231"/>
            <a:ext cx="4662000" cy="503999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확대는 규격·포장 검토, 정비는 유효 856개 유휴 해소가 선행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0" y="5976000"/>
            <a:ext cx="4662000" cy="6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l"/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구간별 등재 판단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51 낱개 이상 740 SKU가 낱개의 58.5%를 차지 — 이 구간의 미등재 251 SKU가 1차 검토 후보. 단, 계란·병제품 등 파손 위험 품목을 제외하고 피킹 성공률이 확인된 것부터 선별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000" y="6750000"/>
            <a:ext cx="9612000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※ 판매량 구간은 냉장·상온 판매 SKU 9,964개를 SKU당 판매 낱개 기준으로 구분.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25826" y="306000"/>
            <a:ext cx="3240346" cy="43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5. 실제 픽 실적 분석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010216" y="674831"/>
            <a:ext cx="2671567" cy="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0000" y="826031"/>
            <a:ext cx="93600" cy="936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5600" y="782831"/>
            <a:ext cx="943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그린리스트 SKU의 99.1%가 이미 픽 대상이나 낱개로는 45.0%만 로봇이 처리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160831"/>
            <a:ext cx="4554000" cy="1655999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160831"/>
            <a:ext cx="4554000" cy="2664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SKU 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1513631"/>
            <a:ext cx="268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판매된 그린리스트 SKU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6000" y="1495631"/>
            <a:ext cx="151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2,035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6000" y="1722431"/>
            <a:ext cx="41220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00" y="1765631"/>
            <a:ext cx="268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└ 픽 시도 있음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6000" y="1747631"/>
            <a:ext cx="151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2,016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000" y="2017631"/>
            <a:ext cx="268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└ 시도 없음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6000" y="1999631"/>
            <a:ext cx="151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258831"/>
            <a:ext cx="4554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99.1%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2644031"/>
            <a:ext cx="4554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SKU 관문은 사실상 통과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98000" y="1160831"/>
            <a:ext cx="4554000" cy="1655999"/>
          </a:xfrm>
          <a:prstGeom prst="rect">
            <a:avLst/>
          </a:prstGeom>
          <a:solidFill>
            <a:srgbClr val="FFFFFF"/>
          </a:solidFill>
          <a:ln w="22225">
            <a:solidFill>
              <a:srgbClr val="C30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98000" y="1160831"/>
            <a:ext cx="4554000" cy="266400"/>
          </a:xfrm>
          <a:prstGeom prst="rect">
            <a:avLst/>
          </a:prstGeom>
          <a:solidFill>
            <a:srgbClr val="C30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낱개 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4000" y="1513631"/>
            <a:ext cx="268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그린리스트 픽 낱개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4000" y="1495631"/>
            <a:ext cx="151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82,261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14000" y="1722431"/>
            <a:ext cx="41220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814000" y="1765631"/>
            <a:ext cx="268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└ 로봇 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4000" y="1747631"/>
            <a:ext cx="151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37,042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4000" y="2017631"/>
            <a:ext cx="268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└ 수동 처리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4000" y="1999631"/>
            <a:ext cx="151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>
                <a:solidFill>
                  <a:srgbClr val="C30C3E"/>
                </a:solidFill>
                <a:latin typeface="맑은 고딕"/>
                <a:ea typeface="맑은 고딕"/>
                <a:cs typeface="맑은 고딕"/>
              </a:rPr>
              <a:t>45,219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98000" y="2258831"/>
            <a:ext cx="4554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C30C3E"/>
                </a:solidFill>
                <a:latin typeface="맑은 고딕"/>
                <a:ea typeface="맑은 고딕"/>
                <a:cs typeface="맑은 고딕"/>
              </a:rPr>
              <a:t>45.0%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98000" y="2644031"/>
            <a:ext cx="4554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낱개 관문에서 절반 이상 이탈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" y="2996831"/>
            <a:ext cx="466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온도대별 픽 실적 】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0000" y="3184031"/>
            <a:ext cx="1542049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61600" y="3274031"/>
            <a:ext cx="86400" cy="86400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2000" y="3212831"/>
            <a:ext cx="4500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냉장은 Utilization이 낮아 Throughput 역전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00" y="3421631"/>
            <a:ext cx="462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존별 OGRP 픽 낱개 및 3개 지표 (%) -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540000" y="3594431"/>
          <a:ext cx="4661999" cy="9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3313"/>
                <a:gridCol w="904567"/>
                <a:gridCol w="800194"/>
                <a:gridCol w="869776"/>
                <a:gridCol w="974149"/>
              </a:tblGrid>
              <a:tr h="259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온도대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OGRP 픽 낱개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Velocity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Utilization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Throughput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상온 (Ambient)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23,670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50.28%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53.64%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26.97%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냉장 (Chill)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13,372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54.82%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35.05%</a:t>
                      </a:r>
                    </a:p>
                  </a:txBody>
                  <a:tcPr marL="43200" marR="43200" marT="10800" marB="1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19.24%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 (Site)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37,042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52.29%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45.03%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23.56%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540000" y="4667231"/>
          <a:ext cx="4662000" cy="162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540000" y="6377231"/>
            <a:ext cx="4662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30C3E"/>
                </a:solidFill>
                <a:latin typeface="맑은 고딕"/>
                <a:ea typeface="맑은 고딕"/>
                <a:cs typeface="맑은 고딕"/>
              </a:rPr>
              <a:t>냉장은 Velocity가 상온보다 높은데도 Utilization이 18.6%p 낮아 Throughput이 역전됨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90000" y="2996831"/>
            <a:ext cx="4662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기간 내 지표 변화 】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90000" y="3184031"/>
            <a:ext cx="1585867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511600" y="3274031"/>
            <a:ext cx="86400" cy="86400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52000" y="3212831"/>
            <a:ext cx="4500000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Throughput 상승은 Utilization 개선에서 발생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26000" y="3421631"/>
            <a:ext cx="4626000" cy="15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Site 기준 3개 시점 지표 추이 (%) -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90000" y="3594431"/>
          <a:ext cx="4661996" cy="97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4808"/>
                <a:gridCol w="793531"/>
                <a:gridCol w="793531"/>
                <a:gridCol w="793531"/>
                <a:gridCol w="826595"/>
              </a:tblGrid>
              <a:tr h="259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7/14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7/22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7/25~26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변화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237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Greenlist Velocity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61.07%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50.05%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48.05%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▲13.02%p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Greenlist Utilization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19.87%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60.84%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86.84%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+66.97%p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37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Site Throughput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12.14%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30.48%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39.29%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+27.15%p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5490000" y="4710431"/>
            <a:ext cx="4662000" cy="10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30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변화의 성격</a:t>
            </a:r>
          </a:p>
          <a:p>
            <a:pPr algn="l"/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Utilization은 7/21까지 20% 내외에서 7/22 이후 계단식으로 상승</a:t>
            </a:r>
          </a:p>
          <a:p>
            <a:pPr algn="l"/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같은 기간 Velocity는 오히려 13.02%p 하락 — 그린리스트 구성 변화가 아님</a:t>
            </a:r>
          </a:p>
          <a:p>
            <a:pPr algn="l"/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상품 목록이 사흘 만에 4배가 될 수 없으므로 로봇 가동 상태의 변화로 판단</a:t>
            </a:r>
          </a:p>
          <a:p>
            <a:pPr algn="l"/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Throughput 상승은 Utilization 개선에서 발생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90000" y="5916431"/>
            <a:ext cx="4662000" cy="827999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수동 처리 45,219 낱개</a:t>
            </a:r>
          </a:p>
          <a:p>
            <a:pPr algn="l"/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그린리스트에 등재되어 있으나 로봇이 처리하지 않은 물량</a:t>
            </a:r>
          </a:p>
          <a:p>
            <a:pPr algn="l"/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로봇 가동 여력 · 집품 시도 실패 · 재고 위치 등이 혼재되어 있으며</a:t>
            </a:r>
          </a:p>
          <a:p>
            <a:pPr algn="l"/>
            <a:r>
              <a:rPr sz="9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현재 대시보드로는 세 경로를 구분할 수 없음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0000" y="6732000"/>
            <a:ext cx="9612000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1) 온도대별 수치는 OSP Insights 화면 표기값(2026-07-14~07-26, Busan).</a:t>
            </a:r>
          </a:p>
          <a:p>
            <a:pPr>
              <a:lnSpc>
                <a:spcPct val="125000"/>
              </a:lnSpc>
            </a:pPr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2) 기간 내 지표 변화는 화면 차트의 데이터 레이블 판독값이며, 7/25~26은 Utilization 7/25 · Velocity와 Throughput 7/26 기준.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