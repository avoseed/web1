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3040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기획안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628000"/>
            <a:ext cx="846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롯데마트 동남아 유통플랫폼 확장 기획 : 캄보디아 진입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2000" y="3384000"/>
            <a:ext cx="8316000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5148000"/>
            <a:ext cx="84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롯데마트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400000"/>
            <a:ext cx="84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2026. 07.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564000"/>
            <a:ext cx="846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베트남 검증 역량 기반 Asset-Light 성장 방안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[요약]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베트남 검증 역량 기반, 캄보디아 Asset-Light 진입으로 저자본·조기수익 실현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800" y="1475999"/>
            <a:ext cx="9057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(배경)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국내 유통 성숙·동남아 소비 고성장 → 신규 프론티어 확보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" y="1800000"/>
            <a:ext cx="9057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(대상)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메콩 3국 중 저위험·고성장·베트남 연계 + 개방적 외자 규제 = 캄보디아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" y="2124000"/>
            <a:ext cx="9057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(방식)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출점 없이 B2B·PB·프랜차이즈·물류 수익화, 한국 상품·신선 특화 차별 포지션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00" y="2448000"/>
            <a:ext cx="9057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(관리)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단계별 Gate 검증 후 확장 — Test → Scale →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00" y="2772000"/>
            <a:ext cx="9057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(기대효과)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저투자·조기 현금흐름 후 유통 플랫폼 단계 발전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[당위성①]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왜 해외 확장인가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내수 유통 성숙·동남아 소비 고성장 → 신규 프론티어 확보 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800" y="1475999"/>
            <a:ext cx="90576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국내 대형마트 시장 성숙·성장 둔화로 외연 확장 필요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(※근거 수치 보강 필요)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" y="1818000"/>
            <a:ext cx="90576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동남아 중산층 확대·소비 고성장의 구조적 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" y="2160000"/>
            <a:ext cx="90576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출점형 대규모 투자 부담 → 저자본 진입 방식 요구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[당위성②]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베트남 모델의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성장은 지속되나 출점형 모델은 구조적 확장 제약 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800" y="1475999"/>
            <a:ext cx="9057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베트남 진출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(2008)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이후 15개점, 남부 집중 → 신규 출점 여력 제한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" y="1756800"/>
            <a:ext cx="9057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출점형 모델은 부지·건축·초기 투자로 점포당 대규모 자본 소요·회수 장기화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" y="2037600"/>
            <a:ext cx="9057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경쟁 심화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(AEON·Central 등)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 신규 출점 기대수익 하락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00" y="2318400"/>
            <a:ext cx="9057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매출 성장 지속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(2024년 +20%)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 입증하듯 제약은 역량 아닌 자산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800" y="2599200"/>
            <a:ext cx="8859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시사점 : 프론티어 시장에는 저자본 진입 대안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[당위성③]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진출국 선정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메콩 3국 중 캄보디아가 저위험·고성장·시너지 동시 충족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등급은 인구·GDP 성장·규제·물류 연결성 기반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(부록A)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4800" y="1548000"/>
          <a:ext cx="9057600" cy="133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7600"/>
                <a:gridCol w="1260000"/>
                <a:gridCol w="1260000"/>
                <a:gridCol w="1260000"/>
                <a:gridCol w="1800000"/>
                <a:gridCol w="1980000"/>
              </a:tblGrid>
              <a:tr h="333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시장성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경쟁강도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베트남 시너지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종합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33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캄보디아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高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高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★★★★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333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라오스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中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中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미얀마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高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高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中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4800" y="3096000"/>
            <a:ext cx="90576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캄보디아 = 달러경제·개방 외자정책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00" y="3401999"/>
            <a:ext cx="90576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미얀마 = 정치·규제 리스크 과다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00" y="3707999"/>
            <a:ext cx="90576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라오스 = 규모·성장성 제약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[적합성①]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시장 매력도 및 진입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젊은 고성장 소비시장 + 개방적 진입 규제 — 이중 호조건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출처 : Worldometer/UN · IMF · 6Wresearch · US Commerce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(trade.gov)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· Khmer Times/MoC</a:t>
            </a:r>
          </a:p>
        </p:txBody>
      </p:sp>
      <p:sp>
        <p:nvSpPr>
          <p:cNvPr id="5" name="Rectangle 4"/>
          <p:cNvSpPr/>
          <p:nvPr/>
        </p:nvSpPr>
        <p:spPr>
          <a:xfrm>
            <a:off x="424800" y="1530000"/>
            <a:ext cx="4384800" cy="270000"/>
          </a:xfrm>
          <a:prstGeom prst="rect">
            <a:avLst/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4800" y="1530000"/>
            <a:ext cx="4384800" cy="2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시장 매력도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800" y="1890000"/>
            <a:ext cx="41867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인구 1,740만 · 중위연령 26.4세 · 생산연령 64%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800" y="2268000"/>
            <a:ext cx="41867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- 1인당 GDP 약 2,760달러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800" y="2646000"/>
            <a:ext cx="41867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소매 성장률 CAGR 약 7~9%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800" y="3024000"/>
            <a:ext cx="41867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부분 달러화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(외화예금 80%+)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 환위험 완화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97600" y="1530000"/>
            <a:ext cx="4384800" cy="270000"/>
          </a:xfrm>
          <a:prstGeom prst="rect">
            <a:avLst/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7600" y="1530000"/>
            <a:ext cx="4384800" cy="2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진입 규제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5600" y="1890000"/>
            <a:ext cx="41867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수입·유통 외국인 참여 제한 최소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5600" y="2268000"/>
            <a:ext cx="41867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상무부 브랜드 독점 수입권 제도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5600" y="2646000"/>
            <a:ext cx="41867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- 100% 외자·JV·프랜차이지 지정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5600" y="3024000"/>
            <a:ext cx="41867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→ Asset-Light 진입의 제도적 기반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5600" y="3402000"/>
            <a:ext cx="41867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(※프랜차이즈 세부 법제는 향후 과제)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53600" y="1530000"/>
            <a:ext cx="0" cy="3780000"/>
          </a:xfrm>
          <a:prstGeom prst="bentConnector3">
            <a:avLst/>
          </a:prstGeom>
          <a:ln w="9525">
            <a:solidFill>
              <a:srgbClr val="BFBFB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5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[적합성②]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유통구조 — 구조적 틈새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현대유통 태동기 — 플레이어는 존재하나 통합 공급 역량은 부재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800000"/>
            <a:ext cx="4031999" cy="61200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전통시장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(대부분)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0000" y="2484000"/>
            <a:ext cx="2736000" cy="612000"/>
          </a:xfrm>
          <a:prstGeom prst="rect">
            <a:avLst/>
          </a:prstGeom>
          <a:solidFill>
            <a:srgbClr val="000066"/>
          </a:solidFill>
          <a:ln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현대유통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(도시 집중·초기)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3168000"/>
            <a:ext cx="1655999" cy="612000"/>
          </a:xfrm>
          <a:prstGeom prst="rect">
            <a:avLst/>
          </a:prstGeom>
          <a:solidFill>
            <a:srgbClr val="C30C3E"/>
          </a:solidFill>
          <a:ln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E-commerce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(초기)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4000" y="1800000"/>
            <a:ext cx="4395600" cy="41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현대화는 프놈펜·씨엠립 등 도시 집중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4000" y="2214000"/>
            <a:ext cx="4395600" cy="41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기존 플레이어 존재 : AEON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(몰)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·Makro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(도매)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·Lucky·Chip Mong·Thai Huot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(슈퍼)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4000" y="2628000"/>
            <a:ext cx="4395600" cy="41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E-commerce 약 17.8억 달러·로컬 플랫폼 부재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4000" y="3042000"/>
            <a:ext cx="4395600" cy="41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수입 의존·공급망 파편화 → 소싱-물류-품질 통합 공급 사업자 부재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6000" y="3456000"/>
            <a:ext cx="4593600" cy="41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결론 : '빈 시장' 아닌 '통합 공급 역량의 틈새'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[적합성③]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Right to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기존 플레이어와 정면 경쟁 없는 차별화 포지션 확보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각 사 점포수·포맷 세부는 현지 조사 확정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(부록C)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4800" y="1548000"/>
          <a:ext cx="9057600" cy="15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000"/>
                <a:gridCol w="1872000"/>
                <a:gridCol w="5241600"/>
              </a:tblGrid>
              <a:tr h="387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플레이어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포맷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우리와의 관계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87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Makro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범용 캐시앤캐리·도매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범용 도매 vs 한국 상품·PB·신선 특화 — 카테고리 비중첩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7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AEON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자산형 몰·GMS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출점 경쟁 아닌 무출점 공급자 — 잠재 B2B 고객화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7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Lucky·Chip Mong·Thai Huot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 슈퍼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경쟁 아닌 핵심 B2B 공급 대상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4800" y="3276000"/>
            <a:ext cx="90576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차별화 3종 : ① K-상품·PB 독점 소싱  ② 신선 콜드체인 표준  ③ 베트남 연계 크로스보더 물류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800" y="3581999"/>
            <a:ext cx="88596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핵심 : 기존 소매사업자 = B2B 고객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7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[적합성④]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기회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캄보디아 Pain Point ↔ 롯데 Capability 정합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4800" y="1584000"/>
          <a:ext cx="90576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28800"/>
                <a:gridCol w="452880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캄보디아 Pain Point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롯데 Capability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공급망 비효율·파편화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SCM · Hub &amp; Spoke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신선 품질 불균일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 표준화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 다양성 부족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글로벌 소싱 · PB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역량 미숙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매장 운영 매뉴얼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4800" y="3600000"/>
            <a:ext cx="90576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결론 : Capability-Fit 높은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8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[적합성⑤]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우리의 무기 — 크로스보더 공급 네트워크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베트남 남부 인프라를 캄보디아로 연장하는 국경 연계 공급망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국경 통관 리드타임·관세는 검증 필요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(부록C)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— 타당성 조사 1순위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" y="1475999"/>
            <a:ext cx="90576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공급망 : 베트남 남부 15개점 소싱·물류 → 육로 국경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(목바이/바벳)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→ 프놈펜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" y="1835999"/>
            <a:ext cx="90576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소싱 : PB 개발 · 글로벌 직소싱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00" y="2196000"/>
            <a:ext cx="90576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운영 : 신선·델리·매장 매뉴얼 이식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00" y="2556000"/>
            <a:ext cx="90576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재정의 : SCM → Cross-border Supply Network / PB → Profit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9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[수익모델]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Asset-Light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출점 없이 B2B·PB·로열티·물류로 수익 — 저투자·고마진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8000" y="2232000"/>
            <a:ext cx="1944000" cy="684000"/>
          </a:xfrm>
          <a:prstGeom prst="roundRect">
            <a:avLst/>
          </a:prstGeom>
          <a:solidFill>
            <a:srgbClr val="000066"/>
          </a:solidFill>
          <a:ln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베트남 남부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소싱·물류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6000" y="2268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국경 연계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30000" y="2574000"/>
            <a:ext cx="576000" cy="0"/>
          </a:xfrm>
          <a:prstGeom prst="bentConnector3">
            <a:avLst/>
          </a:prstGeom>
          <a:ln w="285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24000" y="2232000"/>
            <a:ext cx="1944000" cy="684000"/>
          </a:xfrm>
          <a:prstGeom prst="roundRect">
            <a:avLst/>
          </a:prstGeom>
          <a:solidFill>
            <a:srgbClr val="000066"/>
          </a:solidFill>
          <a:ln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B2B 도매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(초기 현금흐름)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5004000" y="2034000"/>
            <a:ext cx="540000" cy="540000"/>
          </a:xfrm>
          <a:prstGeom prst="bentConnector3">
            <a:avLst/>
          </a:prstGeom>
          <a:ln w="285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80000" y="1800000"/>
            <a:ext cx="1800000" cy="468000"/>
          </a:xfrm>
          <a:prstGeom prst="roundRect">
            <a:avLst/>
          </a:prstGeom>
          <a:solidFill>
            <a:srgbClr val="C30C3E"/>
          </a:solidFill>
          <a:ln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PB · 고마진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04000" y="2574000"/>
            <a:ext cx="540000" cy="18000"/>
          </a:xfrm>
          <a:prstGeom prst="bentConnector3">
            <a:avLst/>
          </a:prstGeom>
          <a:ln w="285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80000" y="2358000"/>
            <a:ext cx="1800000" cy="468000"/>
          </a:xfrm>
          <a:prstGeom prst="roundRect">
            <a:avLst/>
          </a:prstGeom>
          <a:solidFill>
            <a:srgbClr val="000066"/>
          </a:solidFill>
          <a:ln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프랜차이즈 로열티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04000" y="2574000"/>
            <a:ext cx="540000" cy="576000"/>
          </a:xfrm>
          <a:prstGeom prst="bentConnector3">
            <a:avLst/>
          </a:prstGeom>
          <a:ln w="285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80000" y="2916000"/>
            <a:ext cx="1800000" cy="468000"/>
          </a:xfrm>
          <a:prstGeom prst="roundRect">
            <a:avLst/>
          </a:prstGeom>
          <a:solidFill>
            <a:srgbClr val="000066"/>
          </a:solidFill>
          <a:ln>
            <a:solidFill>
              <a:srgbClr val="00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물류 수익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00" y="3816000"/>
            <a:ext cx="90576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Revenue Stream 4종 : 상품공급 마진 · PB · 로열티 · 물류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00" y="4121999"/>
            <a:ext cx="88596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특징 : Low Investment · High Margin · Fast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[실행①]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단계별 진입 및 Gate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단계별 검증 통과 시에만 확장 — Test → Scale →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Gate 수치는 파일럿 설계 시 확정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(부록B)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4800" y="1548000"/>
          <a:ext cx="9057600" cy="151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8000"/>
                <a:gridCol w="2880000"/>
                <a:gridCol w="4449600"/>
              </a:tblGrid>
              <a:tr h="378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 Gate </a:t>
                      </a: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(가정치)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Step1  B2B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 공급 저위험 진입·현금흐름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공급액 · 활성 파트너 N개 · 목표 마진율 달성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Step2  Franchise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마스터 프랜차이즈 무자본 확장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가맹 점포 수 · 점당 매출 · 로열티 안정화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Step3  Platform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유통 + 물류 생태계 완성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 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(장기 비전)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4800" y="3240000"/>
            <a:ext cx="90576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Gate 미달 시 확장 보류·모델 수정 — 손실 하방 차단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11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[실행②]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실행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개시 12개월 전 착수, KPI 기반 관리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4800" y="1548000"/>
          <a:ext cx="9057600" cy="1835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/>
                <a:gridCol w="6357600"/>
              </a:tblGrid>
              <a:tr h="30599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0599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M-12 </a:t>
                      </a: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(개시 12개월 전)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착수 · 시장 정밀조사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599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M-10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물류 인프라 · 국경 통관 설계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599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M-8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파트너 발굴 · 실사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599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M-3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 박람회 · 소싱 확정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00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M-0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B2B 사업 개시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4800" y="3600000"/>
            <a:ext cx="90576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KPI : 매출 · 취급 SKU · 파트너 수 · 공급 리드타임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12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[리스크]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대응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관리 가능한 리스크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4800" y="1548000"/>
          <a:ext cx="90576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2000"/>
                <a:gridCol w="646560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파트너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 파트너 · 사전 실사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물류 · 통관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국경 통관 사전 검증 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(M-10)</a:t>
                      </a: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현지 3PL 병행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경쟁 </a:t>
                      </a: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(Makro 등 도매 확장)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K-상품 · PB · 신선 특화 차별화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환율 · 통화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달러 결제 기본 · 정부 리엘화 정책 모니터링 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(완전 달러화 아님)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프랜차이즈 법제 불확실성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현지 법률 검토 선행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13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[제언]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방향 및 향후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저자본 파일럿 우선 추진, Gate 검증 후 단계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800" y="1475999"/>
            <a:ext cx="9057600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(제언)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B2B 파일럿 저위험 진입, Gate 통과 시 프랜차이즈·플랫폼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" y="1771200"/>
            <a:ext cx="9057600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(기대효과)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저투자 조기 현금흐름 · 베트남 역량 재활용 · 통합 공급 틈새 선점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" y="2066400"/>
            <a:ext cx="9057600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(향후 검토과제)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800" y="2361600"/>
            <a:ext cx="8859600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① 경쟁사 점포·포맷 실사   ② 국경 물류 리드타임·관세 타당성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800" y="2656800"/>
            <a:ext cx="8859600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③ 프랜차이즈 법제   ④ 재무 추정 정교화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00" y="2952000"/>
            <a:ext cx="9057600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(다음 단계)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하반기 내 현지 정밀조사 착수 → 연내 파일럿 실행계획 수립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14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[부록A]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시장 데이터 — 캄보디아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출처 : Worldometer/UN · IMF · 6Wresearch · US Commerce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(trade.gov)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· Khmer Times/MoC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4800" y="1116000"/>
          <a:ext cx="9057600" cy="309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0000"/>
                <a:gridCol w="4500000"/>
                <a:gridCol w="2937600"/>
              </a:tblGrid>
              <a:tr h="344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4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1,740만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Worldometer/UN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중위연령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26.4세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생산연령 비중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64%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1인당 GDP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2,760달러 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(2025)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IMF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소매 성장률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CAGR 약 7~9%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6Wresearch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E-commerce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17.8억 달러 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(2025)</a:t>
                      </a: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초기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 Commerce 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(trade.gov)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달러화 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(외화예금 80%+, 리엘 병용)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Khmer Times/MoC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규제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외국인 유통 제한 최소 · 독점 수입권 · 100% 외자/JV/프랜차이지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MoC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15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[부록B]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재무 추정 (가정치·예시)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본 표는 가정치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(예시)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— 실제 수치는 재무 추정 정교화 후 확정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800" y="1098000"/>
            <a:ext cx="9057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【 가정치 </a:t>
            </a:r>
            <a:r>
              <a:rPr sz="11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(예시)</a:t>
            </a:r>
            <a:r>
              <a:rPr sz="12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 — 파일럿 설계 시 확정 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4800" y="1386000"/>
          <a:ext cx="9057600" cy="151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/>
                <a:gridCol w="2412000"/>
                <a:gridCol w="2520000"/>
                <a:gridCol w="2325600"/>
              </a:tblGrid>
              <a:tr h="378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투자 </a:t>
                      </a: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(가정치·예시)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 </a:t>
                      </a: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(가정치·예시)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회수 </a:t>
                      </a: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(가정치·예시)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Step1  B2B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저투자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상품공급 마진 현금흐름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Step2  Franchise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무자본 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(로열티형)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로열티 + 공급 마진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Step3  Platform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단계적 투자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플랫폼·물류 수익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4800" y="3024000"/>
            <a:ext cx="90576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Gate 가정치 : 월 공급액 · 활성 파트너 수 · 목표 마진율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(Step 전환 조건, 예시)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16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[부록C]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검증 필요 항목 (타당성 조사 체크리스트)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24800" y="1116000"/>
          <a:ext cx="9057600" cy="2015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0"/>
                <a:gridCol w="4737600"/>
                <a:gridCol w="2160000"/>
              </a:tblGrid>
              <a:tr h="40319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항목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403199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경쟁사 점포수·포맷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AEON · Makro · Lucky · Chip Mong · Thai Huot 실사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현지 조사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3199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국경 통관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목바이/바벳 리드타임 · 관세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타당성 1순위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3199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프랜차이즈 법제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현지 법률 검토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선행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3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시장 성숙 근거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대형마트 성숙 근거 수치 보강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보강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96000" y="6462000"/>
            <a:ext cx="122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