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2520000"/>
            <a:ext cx="882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롯데마트 동남아 유통플랫폼 확장 기획 : 캄보디아 진입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3311999"/>
            <a:ext cx="88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베트남 검증 역량 기반 Asset-Light 성장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0"/>
            <a:ext cx="88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롯데마트   /   2026. 07.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[요약] </a:t>
            </a:r>
            <a:r>
              <a:rPr sz="2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베트남 검증 역량 기반, 캄보디아 Asset-Light 진입으로 저자본·조기수익 실현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1260000"/>
            <a:ext cx="4392000" cy="216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386000"/>
            <a:ext cx="4103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674000"/>
            <a:ext cx="4103999" cy="16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국내 유통 성숙·동남아 소비 고성장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신규 프론티어 확보 필요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04000" y="1260000"/>
            <a:ext cx="4392000" cy="216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8000" y="1386000"/>
            <a:ext cx="4103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48000" y="1674000"/>
            <a:ext cx="4103999" cy="16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메콩 3국 중 저위험·고성장·베트남 연계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+ 개방적 외자 규제 = 캄보디아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3546000"/>
            <a:ext cx="4392000" cy="2015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00" y="3671999"/>
            <a:ext cx="4103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00" y="3960000"/>
            <a:ext cx="4103999" cy="1475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출점 없이 B2B·PB·프랜차이즈·물류 수익화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한국 상품·신선 특화 차별 포지션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4000" y="3546000"/>
            <a:ext cx="4392000" cy="2015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000" y="3671999"/>
            <a:ext cx="4103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00" y="3960000"/>
            <a:ext cx="4103999" cy="1475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저투자·조기 현금흐름 확보 후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유통 플랫폼 단계 발전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5634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00" y="5634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관리 원칙 — 단계별 Gate 검증 후 확장 : Test → Scale →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[당위성①] </a:t>
            </a:r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왜 해외 확장인가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내수 유통 성숙·동남아 소비 고성장 → 신규 프론티어 확보 필요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1260000"/>
            <a:ext cx="2880000" cy="464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386000"/>
            <a:ext cx="259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내수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674000"/>
            <a:ext cx="2592000" cy="41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국내 대형마트 시장 성숙·성장 둔화로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외연 확장 필요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(※근거 수치 보강 필요)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1999" y="1260000"/>
            <a:ext cx="2880000" cy="464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6000" y="1386000"/>
            <a:ext cx="259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외부 기회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6000" y="1674000"/>
            <a:ext cx="2592000" cy="41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동남아 중산층 확대·소비 고성장의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구조적 기회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2000" y="1260000"/>
            <a:ext cx="2880000" cy="464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5999" y="1386000"/>
            <a:ext cx="259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진입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5999" y="1674000"/>
            <a:ext cx="2592000" cy="41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출점형 대규모 투자 부담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저자본 진입 방식 요구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2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[당위성②] </a:t>
            </a:r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베트남 모델의 한계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성장은 지속되나 출점형 모델은 구조적 확장 제약 보유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1260000"/>
            <a:ext cx="2880000" cy="3671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386000"/>
            <a:ext cx="259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출점 여력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674000"/>
            <a:ext cx="2592000" cy="313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베트남 진출 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(2008)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이후 15개점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남부 집중 → 신규 출점 여력 제한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1999" y="1260000"/>
            <a:ext cx="2880000" cy="3671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6000" y="1386000"/>
            <a:ext cx="259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자본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6000" y="1674000"/>
            <a:ext cx="2592000" cy="313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출점형 모델은 부지·건축·초기 투자로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점포당 대규모 자본 소요·회수 장기화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2000" y="1260000"/>
            <a:ext cx="2880000" cy="3671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5999" y="1386000"/>
            <a:ext cx="259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경쟁 환경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5999" y="1674000"/>
            <a:ext cx="2592000" cy="31319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AEON·Central 등 경쟁 심화로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신규 출점 기대수익 하락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5076000"/>
            <a:ext cx="9043200" cy="396000"/>
          </a:xfrm>
          <a:prstGeom prst="rect">
            <a:avLst/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00" y="5076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매출 성장 지속 </a:t>
            </a:r>
            <a:r>
              <a:rPr sz="11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(2024년 +20%)</a:t>
            </a:r>
            <a:r>
              <a:rPr sz="1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이 입증하듯 제약은 역량 아닌 자산 모델 → 프론티어 시장에는 저자본 진입 대안 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3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[당위성③] </a:t>
            </a:r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진출국 선정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메콩 3국 중 캄보디아가 저위험·고성장·시너지 동시 충족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296000"/>
          <a:ext cx="9043200" cy="356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0000"/>
                <a:gridCol w="1512000"/>
                <a:gridCol w="1512000"/>
                <a:gridCol w="1512000"/>
                <a:gridCol w="1512000"/>
                <a:gridCol w="1735200"/>
              </a:tblGrid>
              <a:tr h="432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시장성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리스크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경쟁강도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베트남 시너지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종합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캄보디아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DF2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高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DF2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低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DF2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低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DF2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高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DF2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★★★★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DF2F5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라오스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低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中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低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中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★★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미얀마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高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高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中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低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32000" y="5003999"/>
            <a:ext cx="90432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 캄보디아 = 달러경제·개방 외자정책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 미얀마 = 정치·규제 리스크 과다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 라오스 = 규모·성장성 제약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28000"/>
            <a:ext cx="666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※ 등급은 인구·GDP 성장·규제·물류 연결성 기반 </a:t>
            </a:r>
            <a:r>
              <a:rPr sz="7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(부록A)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4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[적합성①] </a:t>
            </a:r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시장 매력도 및 진입 환경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젊은 고성장 소비시장 + 개방적 진입 규제 — 이중 호조건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1260000"/>
            <a:ext cx="4392000" cy="46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04000" y="1260000"/>
            <a:ext cx="4392000" cy="460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2000" y="1260000"/>
            <a:ext cx="4392000" cy="324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2000" y="1260000"/>
            <a:ext cx="4392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시장 매력도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4000" y="1260000"/>
            <a:ext cx="4392000" cy="324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4000" y="1260000"/>
            <a:ext cx="43920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진입 규제 환경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4000" y="1764000"/>
            <a:ext cx="390599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인구 약 1,740만·중위연령 26.4세·생산연령 64% → 젊은 소비기반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4000" y="2286000"/>
            <a:ext cx="390599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- 1인당 GDP 약 2,760달러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(2025)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·중산층 확대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000" y="2808000"/>
            <a:ext cx="390599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소매시장 CAGR 약 7~9% 고성장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000" y="3330000"/>
            <a:ext cx="390599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부분 달러라이제이션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(외화예금 80%+)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으로 환위험 상대적 완화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6000" y="1764000"/>
            <a:ext cx="390599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수입·유통 외국인 참여 제한 최소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000" y="2286000"/>
            <a:ext cx="390599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상무부 브랜드 독점 수입권 제도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6000" y="2808000"/>
            <a:ext cx="390599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- 100% 외자·JV·디스트리뷰터/프랜차이지 지정 가능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6000" y="3330000"/>
            <a:ext cx="390599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→ Asset-Light 진입의 제도적 기반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6000" y="3851999"/>
            <a:ext cx="390599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(※프랜차이즈 세부 법제는 향후 과제)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28000"/>
            <a:ext cx="666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※ 출처 : Worldometer/UN · IMF · 6Wresearch · US Commerce </a:t>
            </a:r>
            <a:r>
              <a:rPr sz="7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(trade.gov)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5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[적합성②] </a:t>
            </a:r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유통구조 — 구조적 틈새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현대유통 태동기 — 플레이어는 존재하나 통합 공급 역량은 부재</a:t>
            </a:r>
          </a:p>
        </p:txBody>
      </p:sp>
      <p:sp>
        <p:nvSpPr>
          <p:cNvPr id="5" name="Trapezoid 4"/>
          <p:cNvSpPr/>
          <p:nvPr/>
        </p:nvSpPr>
        <p:spPr>
          <a:xfrm>
            <a:off x="1548000" y="1404000"/>
            <a:ext cx="2160000" cy="1224000"/>
          </a:xfrm>
          <a:prstGeom prst="trapezoid">
            <a:avLst/>
          </a:prstGeom>
          <a:solidFill>
            <a:srgbClr val="B3B3D1"/>
          </a:solidFill>
          <a:ln>
            <a:solidFill>
              <a:srgbClr val="B3B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E-commerce (초기·17.8억 달러)</a:t>
            </a:r>
          </a:p>
        </p:txBody>
      </p:sp>
      <p:sp>
        <p:nvSpPr>
          <p:cNvPr id="6" name="Trapezoid 5"/>
          <p:cNvSpPr/>
          <p:nvPr/>
        </p:nvSpPr>
        <p:spPr>
          <a:xfrm>
            <a:off x="917999" y="2736000"/>
            <a:ext cx="3420000" cy="1224000"/>
          </a:xfrm>
          <a:prstGeom prst="trapezoid">
            <a:avLst/>
          </a:prstGeom>
          <a:solidFill>
            <a:srgbClr val="6666A3"/>
          </a:solidFill>
          <a:ln>
            <a:solidFill>
              <a:srgbClr val="6666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현대유통 (도시 집중·초기)</a:t>
            </a:r>
          </a:p>
        </p:txBody>
      </p:sp>
      <p:sp>
        <p:nvSpPr>
          <p:cNvPr id="7" name="Trapezoid 6"/>
          <p:cNvSpPr/>
          <p:nvPr/>
        </p:nvSpPr>
        <p:spPr>
          <a:xfrm>
            <a:off x="287999" y="4068000"/>
            <a:ext cx="4680000" cy="1224000"/>
          </a:xfrm>
          <a:prstGeom prst="trapezoid">
            <a:avLst/>
          </a:prstGeom>
          <a:solidFill>
            <a:srgbClr val="000066"/>
          </a:solidFill>
          <a:ln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전통시장 (대부분)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78000" y="1655999"/>
            <a:ext cx="3690000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현대화는 프놈펜·씨엠립 등 도시 집중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8000" y="2286000"/>
            <a:ext cx="3690000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플레이어 : AEON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(몰)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·Makro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(도매)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6000" y="2916000"/>
            <a:ext cx="3492000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 Lucky·Chip Mong·Thai Huot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(슈퍼)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8000" y="3546000"/>
            <a:ext cx="3690000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수입 의존·공급망 파편화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000" y="4176000"/>
            <a:ext cx="3492000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 → 소싱-물류-품질 통합 공급 사업자 부재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80000" y="4860000"/>
            <a:ext cx="3888000" cy="540000"/>
          </a:xfrm>
          <a:prstGeom prst="rect">
            <a:avLst/>
          </a:prstGeom>
          <a:solidFill>
            <a:srgbClr val="FD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24000" y="4860000"/>
            <a:ext cx="3600000" cy="5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'빈 시장' 아닌 '통합 공급 역량의 틈새'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6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[적합성③] </a:t>
            </a:r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Right to 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기존 플레이어와 정면 경쟁 없는 차별화 포지션 확보 가능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296000"/>
          <a:ext cx="9043200" cy="35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/>
                <a:gridCol w="2520000"/>
                <a:gridCol w="4723200"/>
              </a:tblGrid>
              <a:tr h="39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플레이어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포맷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우리와의 관계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Makro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범용 캐시앤캐리·도매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범용 도매 vs 한국 상품·PB·신선 특화 — 카테고리 비중첩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AEON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자산형 몰·GMS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출점 경쟁 아닌 무출점 공급자 — 잠재 B2B 고객화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Lucky·Chip Mong·Thai Huot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로컬 슈퍼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경쟁 아닌 핵심 B2B 공급 대상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32000" y="5003999"/>
            <a:ext cx="90432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차별화 3종 = ① K-상품·PB 독점 소싱  ② 신선 콜드체인 표준  ③ 베트남 연계 크로스보더 물류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328000"/>
            <a:ext cx="9043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— 기존 소매사업자는 경쟁자가 아닌 B2B 고객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6228000"/>
            <a:ext cx="666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※ 각 사 점포수·포맷 세부는 현지 조사 확정 </a:t>
            </a:r>
            <a:r>
              <a:rPr sz="7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(부록C)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7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[적합성④] </a:t>
            </a:r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기회 정의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캄보디아 Pain Point ↔ 롯데 Capability 정합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296000"/>
          <a:ext cx="9043200" cy="41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21600"/>
                <a:gridCol w="4521600"/>
              </a:tblGrid>
              <a:tr h="39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시장 현황 (Pain)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롯데 강점 (Capability)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</a:tr>
              <a:tr h="93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공급망 비효율·파편화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SCM · Hub &amp; Spoke 물류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신선 품질 불균일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품질관리 표준화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  <a:tr h="93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상품 다양성 부족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글로벌 소싱 · PB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3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역량 미숙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매장 운영 매뉴얼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32000" y="5616000"/>
            <a:ext cx="90432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결론 — 역량 적합성 </a:t>
            </a:r>
            <a:r>
              <a:rPr sz="11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(Capability-Fit)</a:t>
            </a:r>
            <a:r>
              <a:rPr sz="1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 높은 시장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8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[적합성⑤] </a:t>
            </a:r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우리의 무기 — 크로스보더 공급 네트워크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베트남 남부 인프라를 캄보디아로 연장하는 국경 연계 공급망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1260000"/>
            <a:ext cx="2880000" cy="3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386000"/>
            <a:ext cx="259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공급망 플랫폼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674000"/>
            <a:ext cx="2592000" cy="3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베트남 남부 15개점 소싱·물류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육로 국경 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(목바이/바벳)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→ 프놈펜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1999" y="1260000"/>
            <a:ext cx="2880000" cy="3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6000" y="1386000"/>
            <a:ext cx="259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소싱 파워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6000" y="1674000"/>
            <a:ext cx="2592000" cy="3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PB 개발·글로벌 직소싱 역량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2000" y="1260000"/>
            <a:ext cx="2880000" cy="3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5999" y="1386000"/>
            <a:ext cx="259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운영 표준화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5999" y="1674000"/>
            <a:ext cx="2592000" cy="32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신선·델리·매장 운영 매뉴얼 이식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51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00" y="51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재정의 — SCM → Cross-border Supply Network  /  PB → Profit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28000"/>
            <a:ext cx="666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※ 국경 통관 리드타임·관세는 검증 필요 </a:t>
            </a:r>
            <a:r>
              <a:rPr sz="7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(부록C)</a:t>
            </a:r>
            <a:r>
              <a:rPr sz="8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 — 타당성 조사 1순위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9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[수익모델] </a:t>
            </a:r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Asset-Light 구조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출점 없이 B2B·PB·로열티·물류로 수익 — 저투자·고마진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2160000"/>
            <a:ext cx="1872000" cy="1440000"/>
          </a:xfrm>
          <a:prstGeom prst="roundRect">
            <a:avLst>
              <a:gd name="adj" fmla="val 6000"/>
            </a:avLst>
          </a:prstGeom>
          <a:solidFill>
            <a:srgbClr val="000066"/>
          </a:solidFill>
          <a:ln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베트남 남부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소싱·물류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0" y="2628000"/>
            <a:ext cx="612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국경 연계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40000" y="2880000"/>
            <a:ext cx="594000" cy="0"/>
          </a:xfrm>
          <a:prstGeom prst="bentConnector3">
            <a:avLst/>
          </a:prstGeom>
          <a:ln w="31750">
            <a:solidFill>
              <a:srgbClr val="6666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1999" y="2160000"/>
            <a:ext cx="2015999" cy="14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30C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B2B 도매</a:t>
            </a:r>
          </a:p>
          <a:p>
            <a:pPr algn="ctr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— 초기 현금흐름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04000" y="2088000"/>
            <a:ext cx="882000" cy="792000"/>
          </a:xfrm>
          <a:prstGeom prst="bentConnector3">
            <a:avLst/>
          </a:prstGeom>
          <a:ln w="31750">
            <a:solidFill>
              <a:srgbClr val="6666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903999" y="1512000"/>
            <a:ext cx="3564000" cy="1152000"/>
          </a:xfrm>
          <a:prstGeom prst="roundRect">
            <a:avLst>
              <a:gd name="adj" fmla="val 6000"/>
            </a:avLst>
          </a:prstGeom>
          <a:solidFill>
            <a:srgbClr val="000066"/>
          </a:solidFill>
          <a:ln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PB 고마진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04000" y="2880000"/>
            <a:ext cx="882000" cy="540000"/>
          </a:xfrm>
          <a:prstGeom prst="bentConnector3">
            <a:avLst/>
          </a:prstGeom>
          <a:ln w="31750">
            <a:solidFill>
              <a:srgbClr val="6666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03999" y="2844000"/>
            <a:ext cx="3564000" cy="1152000"/>
          </a:xfrm>
          <a:prstGeom prst="roundRect">
            <a:avLst>
              <a:gd name="adj" fmla="val 6000"/>
            </a:avLst>
          </a:prstGeom>
          <a:solidFill>
            <a:srgbClr val="000066"/>
          </a:solidFill>
          <a:ln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프랜차이즈 로열티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04000" y="2880000"/>
            <a:ext cx="882000" cy="1872000"/>
          </a:xfrm>
          <a:prstGeom prst="bentConnector3">
            <a:avLst/>
          </a:prstGeom>
          <a:ln w="31750">
            <a:solidFill>
              <a:srgbClr val="6666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03999" y="4176000"/>
            <a:ext cx="3564000" cy="1152000"/>
          </a:xfrm>
          <a:prstGeom prst="roundRect">
            <a:avLst>
              <a:gd name="adj" fmla="val 6000"/>
            </a:avLst>
          </a:prstGeom>
          <a:solidFill>
            <a:srgbClr val="000066"/>
          </a:solidFill>
          <a:ln>
            <a:solidFill>
              <a:srgbClr val="00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물류 수익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4860000"/>
            <a:ext cx="5220000" cy="3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Revenue Stream 4종 = 상품공급 마진 · PB · 로열티 · 물류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5544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00" y="5544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Low Investment · High Margin · Fast Expansion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10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[실행①] </a:t>
            </a:r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단계별 진입 및 Gate 기준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단계별 검증 통과 시에만 확장 — Test → Scale → Platform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296000"/>
          <a:ext cx="9043199" cy="35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0000"/>
                <a:gridCol w="3600000"/>
                <a:gridCol w="3823199"/>
              </a:tblGrid>
              <a:tr h="39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 Gate (가정치)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Step1  B2B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상품 공급 저위험 진입·현금흐름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공급액·활성 파트너 N개·목표 마진율 달성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Step2  Franchise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마스터 프랜차이즈 무자본 확장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가맹 점포 수·점당 매출·로열티 안정화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  <a:tr h="1044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Step3  Platform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유통 + 물류 생태계 완성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 (장기 비전)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32000" y="5003999"/>
            <a:ext cx="90432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Gate 미달 시 확장 보류·모델 수정 — 손실 하방 차단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28000"/>
            <a:ext cx="666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※ Gate 수치는 파일럿 설계 시 확정 </a:t>
            </a:r>
            <a:r>
              <a:rPr sz="7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(부록B)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11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[실행②] </a:t>
            </a:r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실행 로드맵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개시 12개월 전 착수, KPI 기반 관리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296000"/>
          <a:ext cx="9043200" cy="426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0000"/>
                <a:gridCol w="7063200"/>
              </a:tblGrid>
              <a:tr h="39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</a:tr>
              <a:tr h="774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M-12 (개시 12개월 전)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착수·시장 정밀조사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4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M-10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물류 인프라·국경 통관 설계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  <a:tr h="774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M-8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파트너 발굴·실사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4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M-3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상품 박람회·소싱 확정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  <a:tr h="77400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M-0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DF2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B2B 사업 개시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DF2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32000" y="5742000"/>
            <a:ext cx="90432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KPI — 매출·취급 SKU·확보 파트너 수·공급 리드타임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12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[리스크] </a:t>
            </a:r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대응 체계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관리 가능한 리스크 구조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296000"/>
          <a:ext cx="9043200" cy="462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000"/>
                <a:gridCol w="6163200"/>
              </a:tblGrid>
              <a:tr h="39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리스크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파트너 리스크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복수 파트너·사전 실사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물류·통관 리스크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국경 통관 사전 검증(M-10)·현지 3PL 병행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경쟁 대응 (Makro 등 도매 확장)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K-상품·PB·신선 특화 차별화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환율·통화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달러 결제 기본·정부 리엘화 정책 모니터링 (완전 달러화 아님)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프랜차이즈 법제 불확실성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현지 법률 검토 선행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13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[제언] </a:t>
            </a:r>
            <a:r>
              <a:rPr sz="2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방향 및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저자본 파일럿 우선 추진, Gate 검증 후 단계 확장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1260000"/>
            <a:ext cx="4392000" cy="216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386000"/>
            <a:ext cx="4103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제언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674000"/>
            <a:ext cx="4103999" cy="16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B2B 파일럿 저위험 진입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Gate 통과 시 프랜차이즈·플랫폼 확장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3671999"/>
            <a:ext cx="4392000" cy="216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3797999"/>
            <a:ext cx="4103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4086000"/>
            <a:ext cx="4103999" cy="16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저투자 조기 현금흐름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베트남 역량 재활용·통합 공급 틈새 선점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4000" y="1260000"/>
            <a:ext cx="4392000" cy="34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8000" y="1386000"/>
            <a:ext cx="410399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향후 검토과제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8000" y="1674000"/>
            <a:ext cx="4103999" cy="28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경쟁사 점포·포맷 실사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② 국경 물류 리드타임·관세 타당성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프랜차이즈 법제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④ 재무 추정 정교화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4000" y="4824000"/>
            <a:ext cx="43920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000" y="4824000"/>
            <a:ext cx="4103999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다음 단계 — 하반기 내 현지 정밀조사 착수 → 연내 파일럿 실행계획 수립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14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[부록A] </a:t>
            </a:r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시장 데이터 — 캄보디아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캄보디아 주요 시장·규제 지표 원출처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224000"/>
          <a:ext cx="9043199" cy="486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/>
                <a:gridCol w="4320000"/>
                <a:gridCol w="2923199"/>
              </a:tblGrid>
              <a:tr h="39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인구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1,740만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Worldometer/UN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중위연령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26.4세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UN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생산연령 비중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64%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UN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1인당 GDP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2,760달러 (2025)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IMF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소매 성장률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CAGR 약 7~9%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6Wresearch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E-commerce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17.8억 달러 (2025)·초기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Khmer Times/MoC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통화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부분 달러화 (외화예금 80%+·리엘 병용)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IMF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규제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외국인 유통 제한 최소·독점 수입권·100% 외자/JV/프랜차이지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US Commerce(trade.gov)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15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[부록B] </a:t>
            </a:r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재무 추정 — Phase별 예시 프레임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가정치 </a:t>
            </a:r>
            <a:r>
              <a:rPr sz="13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(예시)</a:t>
            </a:r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 — 실제 수치는 재무 추정 정교화 후 확정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296000"/>
          <a:ext cx="9043199" cy="369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5999"/>
                <a:gridCol w="1872000"/>
                <a:gridCol w="1980000"/>
                <a:gridCol w="1800000"/>
                <a:gridCol w="1735200"/>
              </a:tblGrid>
              <a:tr h="39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투자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 구성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회수 관점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Gate 연계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</a:tr>
              <a:tr h="109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Step1  B2B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가정치 설정 대상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상품공급 마진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가정치 설정 대상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월 공급액·마진율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9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Step2  Franchise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가정치 설정 대상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로열티 + 공급 마진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가정치 설정 대상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가맹 수·로열티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  <a:tr h="1098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Step3  Platform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가정치 설정 대상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플랫폼·물류 수익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가정치 설정 대상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장기 비전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32000" y="6228000"/>
            <a:ext cx="666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※ 본 표는 가정치 </a:t>
            </a:r>
            <a:r>
              <a:rPr sz="7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(예시)</a:t>
            </a:r>
            <a:r>
              <a:rPr sz="800" b="0">
                <a:solidFill>
                  <a:srgbClr val="888888"/>
                </a:solidFill>
                <a:latin typeface="맑은 고딕"/>
                <a:ea typeface="맑은 고딕"/>
                <a:cs typeface="맑은 고딕"/>
              </a:rPr>
              <a:t> — 수치 셀은 파일럿 설계 시 확정, 임의 수치 생성 금지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16 /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198000"/>
            <a:ext cx="9043200" cy="413999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[부록C] </a:t>
            </a:r>
            <a:r>
              <a:rPr sz="20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검증 필요 항목 (타당성 조사 체크리스트)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32000" y="648000"/>
            <a:ext cx="9043200" cy="396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48000"/>
            <a:ext cx="8755200" cy="39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타당성 조사 1순위 항목 — 진입 전 확정 필요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1296000"/>
          <a:ext cx="9043200" cy="45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5803200"/>
              </a:tblGrid>
              <a:tr h="3960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내용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000066"/>
                    </a:solidFill>
                  </a:tcPr>
                </a:tc>
              </a:tr>
              <a:tr h="102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경쟁사 점포수·포맷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Makro·AEON 등 점포망·B2B 커버리지 실사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2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국경 물류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목바이/바벳 통관 리드타임·관세·콜드체인 가능성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  <a:tr h="102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프랜차이즈 법제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가맹 관련 현지 법규·로열티 송금 규정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26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국내 시장 근거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대형마트 성숙 판단 근거 수치 확보</a:t>
                      </a:r>
                    </a:p>
                  </a:txBody>
                  <a:tcPr anchor="ctr" marL="90000" marR="54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0" y="6246000"/>
            <a:ext cx="1555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