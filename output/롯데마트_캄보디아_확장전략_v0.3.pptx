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1F3864"/>
              </a:solidFill>
            </c:spPr>
          </c:dPt>
          <c:dPt>
            <c:idx val="2"/>
            <c:spPr>
              <a:solidFill>
                <a:srgbClr val="1F3864"/>
              </a:solidFill>
            </c:spPr>
          </c:dPt>
          <c:dPt>
            <c:idx val="3"/>
            <c:spPr>
              <a:solidFill>
                <a:srgbClr val="1F3864"/>
              </a:solidFill>
            </c:spPr>
          </c:dPt>
          <c:dPt>
            <c:idx val="4"/>
            <c:spPr>
              <a:solidFill>
                <a:srgbClr val="1F3864"/>
              </a:solidFill>
            </c:spPr>
          </c:dPt>
          <c:cat>
            <c:strRef>
              <c:f>Sheet1!$A$2:$A$6</c:f>
              <c:strCache>
                <c:ptCount val="5"/>
                <c:pt idx="0">
                  <c:v>__</c:v>
                </c:pt>
                <c:pt idx="1">
                  <c:v>__</c:v>
                </c:pt>
                <c:pt idx="2">
                  <c:v>__</c:v>
                </c:pt>
                <c:pt idx="3">
                  <c:v>__</c:v>
                </c:pt>
                <c:pt idx="4">
                  <c:v>__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-11</c:v>
                </c:pt>
                <c:pt idx="1">
                  <c:v>180</c:v>
                </c:pt>
                <c:pt idx="2">
                  <c:v>231</c:v>
                </c:pt>
                <c:pt idx="3">
                  <c:v>300</c:v>
                </c:pt>
                <c:pt idx="4">
                  <c:v>371</c:v>
                </c:pt>
              </c:numCache>
            </c:numRef>
          </c:val>
        </c:ser>
        <c:dLbls>
          <c:numFmt formatCode="0;▲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성장률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1F3864"/>
              </a:solidFill>
            </c:spPr>
          </c:dPt>
          <c:dPt>
            <c:idx val="2"/>
            <c:spPr>
              <a:solidFill>
                <a:srgbClr val="1F3864"/>
              </a:solidFill>
            </c:spPr>
          </c:dPt>
          <c:dPt>
            <c:idx val="3"/>
            <c:spPr>
              <a:solidFill>
                <a:srgbClr val="1F3864"/>
              </a:solidFill>
            </c:spPr>
          </c:dPt>
          <c:dPt>
            <c:idx val="4"/>
            <c:spPr>
              <a:solidFill>
                <a:srgbClr val="1F3864"/>
              </a:solidFill>
            </c:spPr>
          </c:dPt>
          <c:cat>
            <c:strRef>
              <c:f>Sheet1!$A$2:$A$6</c:f>
              <c:strCache>
                <c:ptCount val="5"/>
                <c:pt idx="0">
                  <c:v>Lotte</c:v>
                </c:pt>
                <c:pt idx="1">
                  <c:v>Aeon</c:v>
                </c:pt>
                <c:pt idx="2">
                  <c:v>Masan(WinMart)</c:v>
                </c:pt>
                <c:pt idx="3">
                  <c:v>BHX(Mobile World)</c:v>
                </c:pt>
                <c:pt idx="4">
                  <c:v>Central (GO!/mini go!)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</c:v>
                </c:pt>
                <c:pt idx="1">
                  <c:v>13.9</c:v>
                </c:pt>
                <c:pt idx="2">
                  <c:v>13.9</c:v>
                </c:pt>
                <c:pt idx="3">
                  <c:v>14.1</c:v>
                </c:pt>
                <c:pt idx="4">
                  <c:v>56.0</c:v>
                </c:pt>
              </c:numCache>
            </c:numRef>
          </c:val>
        </c:ser>
        <c:dLbls>
          <c:numFmt formatCode="+0.0&quot;%&quot;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240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Lifetime Value Creator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2520000"/>
            <a:ext cx="882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롯데마트 캄보디아 글로벌 확장 전략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80000" y="3204000"/>
            <a:ext cx="4140000" cy="0"/>
          </a:xfrm>
          <a:prstGeom prst="bentConnector3">
            <a:avLst/>
          </a:prstGeom>
          <a:ln w="25400">
            <a:solidFill>
              <a:srgbClr val="C000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0000" y="3311999"/>
            <a:ext cx="88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베트남 검증 역량 기반 Asset-Light 진입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5580000"/>
            <a:ext cx="88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2026. 07. 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000" y="6443999"/>
            <a:ext cx="136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[ 롯데 심볼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6000"/>
            <a:ext cx="85752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목차  |  Contents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2000" y="727200"/>
            <a:ext cx="9043200" cy="0"/>
          </a:xfrm>
          <a:prstGeom prst="bentConnector3">
            <a:avLst/>
          </a:prstGeom>
          <a:ln w="28575">
            <a:solidFill>
              <a:srgbClr val="1F38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440000" y="1512000"/>
            <a:ext cx="360000" cy="36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0000" y="1512000"/>
            <a:ext cx="3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4000" y="1512000"/>
            <a:ext cx="612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롯데마트 베트남 현황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0000" y="2448000"/>
            <a:ext cx="360000" cy="36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0000" y="2448000"/>
            <a:ext cx="3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4000" y="2448000"/>
            <a:ext cx="612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글로벌 확장 전략 배경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0000" y="3384000"/>
            <a:ext cx="360000" cy="36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0000" y="3384000"/>
            <a:ext cx="3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4000" y="3384000"/>
            <a:ext cx="612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핵심역량 강화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40000" y="4320000"/>
            <a:ext cx="360000" cy="36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0000" y="4320000"/>
            <a:ext cx="3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4000" y="4320000"/>
            <a:ext cx="612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향후 계획 · 제언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8000" y="6443999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6000"/>
            <a:ext cx="85752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롯데마트 베트남 현황_실적 및 M/S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2000" y="727200"/>
            <a:ext cx="9043200" cy="0"/>
          </a:xfrm>
          <a:prstGeom prst="bentConnector3">
            <a:avLst/>
          </a:prstGeom>
          <a:ln w="28575">
            <a:solidFill>
              <a:srgbClr val="1F38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2000" y="799200"/>
            <a:ext cx="90432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M/S 성장 중이나 경쟁사 대비 저조 — 현 구조만으로는 M/S 잠식 우려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1520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베트남 법인 영업이익 추이 </a:t>
            </a:r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(단위 : 억 원)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32000" y="1404000"/>
          <a:ext cx="4320000" cy="34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4860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〔조사 : 각 수치의 해당 연도 확인 후 기입〕  ▲ = 영업손실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2000" y="11520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경쟁사 매출성장률 비교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112000" y="1404000"/>
          <a:ext cx="4356000" cy="342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32000" y="6443999"/>
            <a:ext cx="75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※ 기준 : 〔조사 : 기준연도〕 매출성장률   ·   Source : 각사 공시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000" y="6443999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6000"/>
            <a:ext cx="85752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롯데마트 베트남 현황_경쟁 현황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2000" y="727200"/>
            <a:ext cx="9043200" cy="0"/>
          </a:xfrm>
          <a:prstGeom prst="bentConnector3">
            <a:avLst/>
          </a:prstGeom>
          <a:ln w="28575">
            <a:solidFill>
              <a:srgbClr val="1F38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2000" y="799200"/>
            <a:ext cx="90432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기존 Format 경쟁뿐 아니라 이커머스·편의점·SSM의 성장가능성 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" y="1260000"/>
          <a:ext cx="4392000" cy="18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2000"/>
                <a:gridCol w="2880000"/>
              </a:tblGrid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경쟁사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하이퍼마켓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GO! · Tops market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슈퍼마켓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AEON · MaxValu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2000" y="1098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베트남 주요 경쟁사 </a:t>
            </a:r>
            <a:r>
              <a:rPr sz="10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(Format 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2000" y="1098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신채널 성장 전망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112000" y="1260000"/>
          <a:ext cx="4356000" cy="203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2000"/>
                <a:gridCol w="1440000"/>
                <a:gridCol w="1404000"/>
              </a:tblGrid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채널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現 시장 규모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'26~'30 성장률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이커머스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48조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15~20%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편의점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0.6조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11~13%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SSM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9조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13~15%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32000" y="5958000"/>
            <a:ext cx="90432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“ 내부 효율 → 외부 확장으로 전환 필요 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443999"/>
            <a:ext cx="75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Source : 각사 공시 · 유통업계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000" y="6443999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6000"/>
            <a:ext cx="85752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글로벌 확장 전략 배경_외부 확장 지역 선정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2000" y="727200"/>
            <a:ext cx="9043200" cy="0"/>
          </a:xfrm>
          <a:prstGeom prst="bentConnector3">
            <a:avLst/>
          </a:prstGeom>
          <a:ln w="28575">
            <a:solidFill>
              <a:srgbClr val="1F38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2000" y="799200"/>
            <a:ext cx="90432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캄보디아는 '저위험 + 고성장 + 베트남 연계' 유일 시장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098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메콩 3국 비교 매트릭스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260000"/>
          <a:ext cx="4608000" cy="24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6000"/>
                <a:gridCol w="720000"/>
                <a:gridCol w="720000"/>
                <a:gridCol w="684000"/>
                <a:gridCol w="900000"/>
                <a:gridCol w="648000"/>
              </a:tblGrid>
              <a:tr h="39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시장성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경쟁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베트남 시너지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종합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캄보디아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D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高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D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低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D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低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D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高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D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★★★★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DE9E9"/>
                    </a:solidFill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라오스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低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中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低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中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미얀마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高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高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中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低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3744000"/>
            <a:ext cx="4608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※ 평가 기준 — 시장성 : 소매시장 성장률·인구 / 리스크 : 정치·외환 / 시너지 : 베트남 육로 접근성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2000" y="1098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캄보디아 스냅샷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12000" y="1296000"/>
            <a:ext cx="4356000" cy="612000"/>
          </a:xfrm>
          <a:prstGeom prst="rect">
            <a:avLst/>
          </a:prstGeom>
          <a:solidFill>
            <a:srgbClr val="EEF1F7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12000" y="1296000"/>
            <a:ext cx="468000" cy="612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2000" y="1296000"/>
            <a:ext cx="468000" cy="61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8000" y="1296000"/>
            <a:ext cx="3708000" cy="61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인구 1,689만 </a:t>
            </a: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('23)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· 프놈펜 228만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2000" y="1998000"/>
            <a:ext cx="4356000" cy="612000"/>
          </a:xfrm>
          <a:prstGeom prst="rect">
            <a:avLst/>
          </a:prstGeom>
          <a:solidFill>
            <a:srgbClr val="EEF1F7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12000" y="1998000"/>
            <a:ext cx="468000" cy="612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2000" y="1998000"/>
            <a:ext cx="468000" cy="61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8000" y="1998000"/>
            <a:ext cx="3708000" cy="61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경제성장 1998년 이후 장기평균 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12000" y="2700000"/>
            <a:ext cx="4356000" cy="612000"/>
          </a:xfrm>
          <a:prstGeom prst="rect">
            <a:avLst/>
          </a:prstGeom>
          <a:solidFill>
            <a:srgbClr val="EEF1F7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2000" y="2700000"/>
            <a:ext cx="468000" cy="612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2000" y="2700000"/>
            <a:ext cx="468000" cy="61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8000" y="2700000"/>
            <a:ext cx="3708000" cy="61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달러 통용 경제 → 환위험 완화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2000" y="3401999"/>
            <a:ext cx="4356000" cy="612000"/>
          </a:xfrm>
          <a:prstGeom prst="rect">
            <a:avLst/>
          </a:prstGeom>
          <a:solidFill>
            <a:srgbClr val="EEF1F7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12000" y="3401999"/>
            <a:ext cx="468000" cy="612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2000" y="3401999"/>
            <a:ext cx="468000" cy="61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8000" y="3401999"/>
            <a:ext cx="3708000" cy="61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목바이·바벳 육로 국경 → 베트남 남부 직결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6443999"/>
            <a:ext cx="75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Source : 캄보디아 신규진출 검토 보고 </a:t>
            </a:r>
            <a:r>
              <a:rPr sz="8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('24.03)</a:t>
            </a:r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, KOTRA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8000" y="6443999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6000"/>
            <a:ext cx="85752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글로벌 확장 전략 배경_캄보디아 유통 구조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2000" y="727200"/>
            <a:ext cx="9043200" cy="0"/>
          </a:xfrm>
          <a:prstGeom prst="bentConnector3">
            <a:avLst/>
          </a:prstGeom>
          <a:ln w="28575">
            <a:solidFill>
              <a:srgbClr val="1F38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2000" y="799200"/>
            <a:ext cx="90432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현대 유통 침투율 저조 → 시장 잠재력 高, 통합 공급 사업자 부재</a:t>
            </a:r>
          </a:p>
        </p:txBody>
      </p:sp>
      <p:sp>
        <p:nvSpPr>
          <p:cNvPr id="7" name="Trapezoid 6"/>
          <p:cNvSpPr/>
          <p:nvPr/>
        </p:nvSpPr>
        <p:spPr>
          <a:xfrm>
            <a:off x="1565999" y="1296000"/>
            <a:ext cx="2340000" cy="900000"/>
          </a:xfrm>
          <a:prstGeom prst="trapezoid">
            <a:avLst/>
          </a:prstGeom>
          <a:solidFill>
            <a:srgbClr val="9DB0CE"/>
          </a:solidFill>
          <a:ln>
            <a:solidFill>
              <a:srgbClr val="9DB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E-Commerce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(초기 단계)</a:t>
            </a:r>
          </a:p>
        </p:txBody>
      </p:sp>
      <p:sp>
        <p:nvSpPr>
          <p:cNvPr id="8" name="Trapezoid 7"/>
          <p:cNvSpPr/>
          <p:nvPr/>
        </p:nvSpPr>
        <p:spPr>
          <a:xfrm>
            <a:off x="971999" y="2268000"/>
            <a:ext cx="3528000" cy="900000"/>
          </a:xfrm>
          <a:prstGeom prst="trapezoid">
            <a:avLst/>
          </a:prstGeom>
          <a:solidFill>
            <a:srgbClr val="4E6A9E"/>
          </a:solidFill>
          <a:ln>
            <a:solidFill>
              <a:srgbClr val="4E6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Modern Trade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슈퍼 545 · 편의점 118 · 하이퍼 5 ('22)</a:t>
            </a:r>
          </a:p>
        </p:txBody>
      </p:sp>
      <p:sp>
        <p:nvSpPr>
          <p:cNvPr id="9" name="Trapezoid 8"/>
          <p:cNvSpPr/>
          <p:nvPr/>
        </p:nvSpPr>
        <p:spPr>
          <a:xfrm>
            <a:off x="395999" y="3240000"/>
            <a:ext cx="4680000" cy="900000"/>
          </a:xfrm>
          <a:prstGeom prst="trapezoid">
            <a:avLst/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Traditional Market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소규모 식료품점 109,222개 (95.5%)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" y="2268000"/>
            <a:ext cx="2376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← 편의점 CAGR 25.2%</a:t>
            </a:r>
          </a:p>
          <a:p>
            <a:pPr algn="l"/>
            <a:r>
              <a:rPr sz="10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     하이퍼 13.6%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80000" y="1260000"/>
            <a:ext cx="3888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80000" y="1260000"/>
            <a:ext cx="3888000" cy="306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0000" y="1260000"/>
            <a:ext cx="3888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과반수 수입 의존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6000" y="1620000"/>
            <a:ext cx="3636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'22년 식품 수입 : 태국 23.3% · 인니 13.4% · 베트남 11.1%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80000" y="2412000"/>
            <a:ext cx="3888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80000" y="2412000"/>
            <a:ext cx="3888000" cy="306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0000" y="2412000"/>
            <a:ext cx="3888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현대유통 = 프놈펜 집중·외국계 리드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6000" y="2772000"/>
            <a:ext cx="3636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Lucky 85점 · Circle K 39 · AEON 30 · Big C 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80000" y="3564000"/>
            <a:ext cx="3888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80000" y="3564000"/>
            <a:ext cx="3888000" cy="30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0000" y="3564000"/>
            <a:ext cx="3888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수입 → 유통 → 소매 파편화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6000" y="3924000"/>
            <a:ext cx="3636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통합 공급 역량 보유 사업자 부재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6443999"/>
            <a:ext cx="75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Source : 캄보디아 신규진출 검토 보고 </a:t>
            </a:r>
            <a:r>
              <a:rPr sz="8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('24.03)</a:t>
            </a:r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, KOTRA 유통구조 조사 </a:t>
            </a:r>
            <a:r>
              <a:rPr sz="8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('22)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8000" y="6443999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6000"/>
            <a:ext cx="85752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핵심역량 기반 공략_시장 기회 요소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2000" y="727200"/>
            <a:ext cx="9043200" cy="0"/>
          </a:xfrm>
          <a:prstGeom prst="bentConnector3">
            <a:avLst/>
          </a:prstGeom>
          <a:ln w="28575">
            <a:solidFill>
              <a:srgbClr val="1F38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2000" y="799200"/>
            <a:ext cx="90432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롯데마트의 '유통 플랫폼' 역할로서 시장 문제 해결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" y="1224000"/>
          <a:ext cx="9043200" cy="40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2000"/>
                <a:gridCol w="1080000"/>
                <a:gridCol w="6631200"/>
              </a:tblGrid>
              <a:tr h="342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시장 문제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롯데 강점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문안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물류 비효율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WMS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수출형 창고관리·가시성 솔루션 강화 — 베트남 물류센터↔캄보디아 매장 재고 Data 실시간 연동 / 재고정확도 글로벌 99.8% 이상 / 프랜차이즈 매장 결품율 2.0% 이하 안전재고 최적화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신선품질 불균일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SCM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Cold Chain·육로 수송 → 최적 동선·적재율 향상(Back Haul) / 다중 온도대 차량·TMS 고도화 / 프놈펜 보관·통관·육로 운송 리드타임 단축 — 캄보디아 물류 106위(도로 99·항만 81) → SCM 자체가 진입장벽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상품 부족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Sourcing Power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PB 개발·글로벌 직소싱 — PB 구성비 現 15% → 30% / K-Food 소싱 허브(롯데웰푸드·크라운·동원 F&amp;B·중소 제조사 동반 진출)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360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미숙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노하우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베트남 매장 운영 Manual 전수 — 신선 품질·위생·상품화 / Deli 특화(Yorihada) Know-how·Recipe / POG 진열 원칙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2000" y="5958000"/>
            <a:ext cx="90432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“ 시장 문제 → 롯데의 기회로 전환 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00" y="6443999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6000"/>
            <a:ext cx="85752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핵심역량 기반 공략_크로스보더 공급망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2000" y="727200"/>
            <a:ext cx="9043200" cy="0"/>
          </a:xfrm>
          <a:prstGeom prst="bentConnector3">
            <a:avLst/>
          </a:prstGeom>
          <a:ln w="28575">
            <a:solidFill>
              <a:srgbClr val="1F38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2000" y="799200"/>
            <a:ext cx="90432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베트남 남부 인프라를 캄보디아로 연장하는 국경 연계 공급망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376000"/>
            <a:ext cx="1296000" cy="864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호치민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(소싱·물류 허브)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24000" y="2376000"/>
            <a:ext cx="1296000" cy="864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목바이 국경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(통관)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6000" y="2376000"/>
            <a:ext cx="1296000" cy="864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프놈펜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(매장·파트너)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45999" y="2808000"/>
            <a:ext cx="360001" cy="0"/>
          </a:xfrm>
          <a:prstGeom prst="bentConnector3">
            <a:avLst/>
          </a:prstGeom>
          <a:ln w="3810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38000" y="2808000"/>
            <a:ext cx="360000" cy="0"/>
          </a:xfrm>
          <a:prstGeom prst="bentConnector3">
            <a:avLst/>
          </a:prstGeom>
          <a:ln w="3810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92000" y="2015999"/>
            <a:ext cx="576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__시간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4000" y="2015999"/>
            <a:ext cx="576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__시간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311999"/>
            <a:ext cx="468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❄ 콜드체인 유지 구간   ·   리드타임 〔조사 : D-10 물류 재설계 시 확정〕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0" y="1224000"/>
            <a:ext cx="4068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0" y="1224000"/>
            <a:ext cx="4068000" cy="306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0" y="1224000"/>
            <a:ext cx="4068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 거점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6000" y="1584000"/>
            <a:ext cx="3816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베트남 남부 소싱/물류 인프라 기 구축 → 신규 투자 최소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0" y="2376000"/>
            <a:ext cx="4068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0000" y="2376000"/>
            <a:ext cx="4068000" cy="306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0" y="2376000"/>
            <a:ext cx="4068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육로 연계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6000" y="2736000"/>
            <a:ext cx="3816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국경 통관 → 프놈펜 직결, 콜드체인 유지 배송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0" y="3528000"/>
            <a:ext cx="4068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00000" y="3528000"/>
            <a:ext cx="4068000" cy="30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0" y="3528000"/>
            <a:ext cx="4068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역량 재정의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6000" y="3888000"/>
            <a:ext cx="3816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SCM → Cross-border Supply Network / PB → Profit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8000" y="6443999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6000"/>
            <a:ext cx="85752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향후 계획_수익 모델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2000" y="727200"/>
            <a:ext cx="9043200" cy="0"/>
          </a:xfrm>
          <a:prstGeom prst="bentConnector3">
            <a:avLst/>
          </a:prstGeom>
          <a:ln w="28575">
            <a:solidFill>
              <a:srgbClr val="1F38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2000" y="799200"/>
            <a:ext cx="90432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출점 없이 B2B·PB·로열티·물류로 수익 — 저투자·고마진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160000"/>
            <a:ext cx="1944000" cy="1152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베트남 남부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소싱·물류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(국경 연계)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12000" y="2736000"/>
            <a:ext cx="576000" cy="0"/>
          </a:xfrm>
          <a:prstGeom prst="bentConnector3">
            <a:avLst/>
          </a:prstGeom>
          <a:ln w="3810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24000" y="2160000"/>
            <a:ext cx="1872000" cy="1152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B2B 도매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(초기 현금흐름)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932000" y="1620000"/>
            <a:ext cx="612000" cy="1116000"/>
          </a:xfrm>
          <a:prstGeom prst="bentConnector3">
            <a:avLst/>
          </a:prstGeom>
          <a:ln w="3810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80000" y="1296000"/>
            <a:ext cx="3888000" cy="648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상품공급 마진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32000" y="2520000"/>
            <a:ext cx="612000" cy="216000"/>
          </a:xfrm>
          <a:prstGeom prst="bentConnector3">
            <a:avLst/>
          </a:prstGeom>
          <a:ln w="3810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80000" y="2196000"/>
            <a:ext cx="3888000" cy="648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PB 수익 (고마진)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32000" y="2736000"/>
            <a:ext cx="612000" cy="684000"/>
          </a:xfrm>
          <a:prstGeom prst="bentConnector3">
            <a:avLst/>
          </a:prstGeom>
          <a:ln w="3810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580000" y="3096000"/>
            <a:ext cx="3888000" cy="648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마스터 프랜차이즈 로열티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32000" y="2736000"/>
            <a:ext cx="612000" cy="1584000"/>
          </a:xfrm>
          <a:prstGeom prst="bentConnector3">
            <a:avLst/>
          </a:prstGeom>
          <a:ln w="3810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80000" y="3996000"/>
            <a:ext cx="3888000" cy="648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크로스보더 물류 수익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84000"/>
            <a:ext cx="9043200" cy="432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5184000"/>
            <a:ext cx="90432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Low Investment  ·  High Margin  ·  Fast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8000" y="6443999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6000"/>
            <a:ext cx="85752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향후 계획_단계별 실행 전략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2000" y="727200"/>
            <a:ext cx="9043200" cy="0"/>
          </a:xfrm>
          <a:prstGeom prst="bentConnector3">
            <a:avLst/>
          </a:prstGeom>
          <a:ln w="28575">
            <a:solidFill>
              <a:srgbClr val="1F38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2000" y="799200"/>
            <a:ext cx="90432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Low risk → High return 순 단계적 진입, 정량 Gate 충족 시 단계 전환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" y="1224000"/>
          <a:ext cx="9043200" cy="241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/>
                <a:gridCol w="3240000"/>
                <a:gridCol w="4003200"/>
              </a:tblGrid>
              <a:tr h="36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 Gate  〔조사 : D-8 시장조사 후 확정〕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Step 1. B2B 상품 공급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저위험 진입 · 현금흐름 확보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공급액 __억 · 활성 파트너 __개 · 공급마진 __%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Step 2. Franchise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마스터 프랜차이즈 무자본 확장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가맹 점포 __개 · 점당 월매출 __ · 로열티 안정화 __개월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EF1F7"/>
                    </a:solidFill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Step 3. Platform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유통 + 물류 생태계 완성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 (장기 비전)</a:t>
                      </a:r>
                    </a:p>
                  </a:txBody>
                  <a:tcPr anchor="ctr" marL="72000" marR="432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32000" y="3744000"/>
            <a:ext cx="90432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3744000"/>
            <a:ext cx="9043200" cy="306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3744000"/>
            <a:ext cx="90432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파트너 후보군 </a:t>
            </a: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(Step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999" y="4104000"/>
            <a:ext cx="87912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Chip Mong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(재계 2위)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· Royal Group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(재계 1위)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· 부영그룹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부영 : 프놈펜 CBD 임점 제안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('24.02)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실재 — 1호 거점 옵션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(선택)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본류는 B2B 유지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443999"/>
            <a:ext cx="75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※ Gate 수치는 D-8 캄보디아 수출 시장조사 결과로 확정</a:t>
            </a:r>
          </a:p>
          <a:p>
            <a:pPr algn="l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※ 캄보디아 프랜차이즈 법제 미비 </a:t>
            </a:r>
            <a:r>
              <a:rPr sz="8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(제정 준비 중)</a:t>
            </a:r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·외국인 토지 소유 불가 </a:t>
            </a:r>
            <a:r>
              <a:rPr sz="8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(최대 50년 사용권)</a:t>
            </a:r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 → Step 2 계약 구조는 법무 검토 병행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000" y="6443999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6000"/>
            <a:ext cx="85752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향후 계획_1년 로드맵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2000" y="727200"/>
            <a:ext cx="9043200" cy="0"/>
          </a:xfrm>
          <a:prstGeom prst="bentConnector3">
            <a:avLst/>
          </a:prstGeom>
          <a:ln w="28575">
            <a:solidFill>
              <a:srgbClr val="1F38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2000" y="799200"/>
            <a:ext cx="90432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캄보디아 진입 1년 내 사업 개시 가능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92000" y="1332000"/>
            <a:ext cx="0" cy="3456000"/>
          </a:xfrm>
          <a:prstGeom prst="bentConnector3">
            <a:avLst/>
          </a:prstGeom>
          <a:ln w="25400">
            <a:solidFill>
              <a:srgbClr val="1F38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4400" y="1274400"/>
            <a:ext cx="115200" cy="115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1188000"/>
            <a:ext cx="72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8000" y="1152000"/>
            <a:ext cx="30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Project Kick-off</a:t>
            </a:r>
          </a:p>
        </p:txBody>
      </p:sp>
      <p:sp>
        <p:nvSpPr>
          <p:cNvPr id="11" name="Oval 10"/>
          <p:cNvSpPr/>
          <p:nvPr/>
        </p:nvSpPr>
        <p:spPr>
          <a:xfrm>
            <a:off x="734400" y="1965600"/>
            <a:ext cx="115200" cy="115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1879200"/>
            <a:ext cx="72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D-11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8000" y="1843200"/>
            <a:ext cx="30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조직 설계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(상품·물류·OP)</a:t>
            </a:r>
          </a:p>
        </p:txBody>
      </p:sp>
      <p:sp>
        <p:nvSpPr>
          <p:cNvPr id="14" name="Oval 13"/>
          <p:cNvSpPr/>
          <p:nvPr/>
        </p:nvSpPr>
        <p:spPr>
          <a:xfrm>
            <a:off x="734400" y="2656800"/>
            <a:ext cx="115200" cy="115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2570400"/>
            <a:ext cx="72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8000" y="2534400"/>
            <a:ext cx="30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물류 인프라 재설계</a:t>
            </a:r>
          </a:p>
        </p:txBody>
      </p:sp>
      <p:sp>
        <p:nvSpPr>
          <p:cNvPr id="17" name="Oval 16"/>
          <p:cNvSpPr/>
          <p:nvPr/>
        </p:nvSpPr>
        <p:spPr>
          <a:xfrm>
            <a:off x="734400" y="3348000"/>
            <a:ext cx="115200" cy="115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000" y="3261600"/>
            <a:ext cx="72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D-8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28000" y="3225600"/>
            <a:ext cx="30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캄보디아 수출 시장 조사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→ Gate 수치 확정</a:t>
            </a:r>
          </a:p>
        </p:txBody>
      </p:sp>
      <p:sp>
        <p:nvSpPr>
          <p:cNvPr id="20" name="Oval 19"/>
          <p:cNvSpPr/>
          <p:nvPr/>
        </p:nvSpPr>
        <p:spPr>
          <a:xfrm>
            <a:off x="734400" y="4039200"/>
            <a:ext cx="115200" cy="115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000" y="3952800"/>
            <a:ext cx="72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28000" y="3916800"/>
            <a:ext cx="30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캄보디아 상품 박람회</a:t>
            </a:r>
          </a:p>
        </p:txBody>
      </p:sp>
      <p:sp>
        <p:nvSpPr>
          <p:cNvPr id="23" name="Oval 22"/>
          <p:cNvSpPr/>
          <p:nvPr/>
        </p:nvSpPr>
        <p:spPr>
          <a:xfrm>
            <a:off x="734400" y="4730400"/>
            <a:ext cx="115200" cy="115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000" y="4644000"/>
            <a:ext cx="720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D-day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28000" y="4608000"/>
            <a:ext cx="30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B2B Wholesale 개시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0000" y="1098000"/>
            <a:ext cx="43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공급 확대 4단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20000" y="1332000"/>
            <a:ext cx="4248000" cy="684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중소형 Supermarket 중심 가공상품 공급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43999" y="2015999"/>
            <a:ext cx="0" cy="162001"/>
          </a:xfrm>
          <a:prstGeom prst="bentConnector3">
            <a:avLst/>
          </a:prstGeom>
          <a:ln w="3175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220000" y="2178000"/>
            <a:ext cx="4248000" cy="684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대형 Supermarket 중심 PB·공산품 공급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43999" y="2862000"/>
            <a:ext cx="0" cy="162000"/>
          </a:xfrm>
          <a:prstGeom prst="bentConnector3">
            <a:avLst/>
          </a:prstGeom>
          <a:ln w="3175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220000" y="3024000"/>
            <a:ext cx="4248000" cy="684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신선식품 공급 및 마스터 프랜차이즈 집중 물색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43999" y="3708000"/>
            <a:ext cx="0" cy="162000"/>
          </a:xfrm>
          <a:prstGeom prst="bentConnector3">
            <a:avLst/>
          </a:prstGeom>
          <a:ln w="3175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220000" y="3870000"/>
            <a:ext cx="4248000" cy="684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Master Franchise 계약 → 확장 집중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8000" y="6443999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06000"/>
            <a:ext cx="3780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6000"/>
            <a:ext cx="8575200" cy="37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향후 계획_제언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2000" y="727200"/>
            <a:ext cx="9043200" cy="0"/>
          </a:xfrm>
          <a:prstGeom prst="bentConnector3">
            <a:avLst/>
          </a:prstGeom>
          <a:ln w="28575">
            <a:solidFill>
              <a:srgbClr val="1F38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2000" y="799200"/>
            <a:ext cx="90432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저자본 B2B 파일럿 우선 추진, Gate 충족 시 단계 확장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296000"/>
            <a:ext cx="2880000" cy="3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296000"/>
            <a:ext cx="2880000" cy="306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296000"/>
            <a:ext cx="2880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999" y="1655999"/>
            <a:ext cx="2628000" cy="31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베트남 남부 인프라 활용한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B2B 파일럿 先 추진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→ 시장성 검증 후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프랜차이즈 확장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1600" y="1296000"/>
            <a:ext cx="2880000" cy="3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1600" y="1296000"/>
            <a:ext cx="2880000" cy="306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1600" y="1296000"/>
            <a:ext cx="2880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기대효과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7600" y="1655999"/>
            <a:ext cx="2628000" cy="31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① 신규 투자 최소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(기존 인프라 연장)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② 진입 1년 내 현금흐름 창출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③ 베트남 단일 의존 분산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(정량 기대효과 : 〔조사〕)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1200" y="1296000"/>
            <a:ext cx="3024000" cy="3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51200" y="1296000"/>
            <a:ext cx="3024000" cy="30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1200" y="1296000"/>
            <a:ext cx="3024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향후 검토과제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7200" y="1655999"/>
            <a:ext cx="2772000" cy="31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① D-8 시장조사로 Gate 수치 확정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② 프랜차이즈 법제 제정 동향 모니터링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③ 파트너 3사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(Chip Mong·Royal Group·부영)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접촉 우선순위 수립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8000" y="6443999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